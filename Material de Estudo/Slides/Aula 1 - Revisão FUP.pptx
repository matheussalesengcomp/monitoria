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16.svg" ContentType="image/svg"/>
  <Override PartName="/ppt/media/image28.png" ContentType="image/png"/>
  <Override PartName="/ppt/media/image27.png" ContentType="image/png"/>
  <Override PartName="/ppt/media/image14.svg" ContentType="image/svg"/>
  <Override PartName="/ppt/media/image25.png" ContentType="image/png"/>
  <Override PartName="/ppt/media/image12.svg" ContentType="image/svg"/>
  <Override PartName="/ppt/media/image49.svg" ContentType="image/svg"/>
  <Override PartName="/ppt/media/image23.png" ContentType="image/png"/>
  <Override PartName="/ppt/media/image10.svg" ContentType="image/svg"/>
  <Override PartName="/ppt/media/image47.svg" ContentType="image/svg"/>
  <Override PartName="/ppt/media/image21.png" ContentType="image/png"/>
  <Override PartName="/ppt/media/image45.svg" ContentType="image/svg"/>
  <Override PartName="/ppt/media/image19.png" ContentType="image/png"/>
  <Override PartName="/ppt/media/image17.png" ContentType="image/png"/>
  <Override PartName="/ppt/media/image26.svg" ContentType="image/svg"/>
  <Override PartName="/ppt/media/image7.png" ContentType="image/png"/>
  <Override PartName="/ppt/media/image39.png" ContentType="image/png"/>
  <Override PartName="/ppt/media/image15.png" ContentType="image/png"/>
  <Override PartName="/ppt/media/image1.png" ContentType="image/png"/>
  <Override PartName="/ppt/media/image33.png" ContentType="image/png"/>
  <Override PartName="/ppt/media/image2.svg" ContentType="image/svg"/>
  <Override PartName="/ppt/media/image34.svg" ContentType="image/svg"/>
  <Override PartName="/ppt/media/image31.png" ContentType="image/png"/>
  <Override PartName="/ppt/media/image42.svg" ContentType="image/svg"/>
  <Override PartName="/ppt/media/image32.svg" ContentType="image/svg"/>
  <Override PartName="/ppt/media/image36.png" ContentType="image/png"/>
  <Override PartName="/ppt/media/image44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51.png" ContentType="image/png"/>
  <Override PartName="/ppt/media/image40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54.svg" ContentType="image/svg"/>
  <Override PartName="/ppt/media/image8.svg" ContentType="image/svg"/>
  <Override PartName="/ppt/media/image43.png" ContentType="image/png"/>
  <Override PartName="/ppt/media/image30.svg" ContentType="image/svg"/>
  <Override PartName="/ppt/media/image9.png" ContentType="image/png"/>
  <Override PartName="/ppt/media/image18.png" ContentType="image/png"/>
  <Override PartName="/ppt/media/image20.png" ContentType="image/png"/>
  <Override PartName="/ppt/media/image6.svg" ContentType="image/svg"/>
  <Override PartName="/ppt/media/image38.svg" ContentType="image/svg"/>
  <Override PartName="/ppt/media/image4.svg" ContentType="image/svg"/>
  <Override PartName="/ppt/media/image5.png" ContentType="image/png"/>
  <Override PartName="/ppt/media/image24.svg" ContentType="image/svg"/>
  <Override PartName="/ppt/media/image37.png" ContentType="image/png"/>
  <Override PartName="/ppt/media/image22.svg" ContentType="image/svg"/>
  <Override PartName="/ppt/media/image35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690B59-072A-4C5E-A8D4-C0528EA6D8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A434F8-F1F1-4478-A4E8-EB46DB7133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5CE9FF8-6BAA-4652-84A0-CB8439DB0B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C62CEF0-2BE2-47E2-AF3F-BA9852169C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9A433AC-80E9-4D07-866F-BA9FCB25EF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C406317-21D1-4B3C-9EE9-5F73FD55D3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086F975-7738-4923-8D41-69B704CBEB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9C7DBBC-0541-45BF-8BC3-74411F0F62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D6205CB-C5A6-49F7-893B-F92E6204B2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7D572A0-968F-448A-A879-853B8572C9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536EDB0-4E0C-4FC8-A420-18BBF9AF33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7BAE6F-FC8F-401D-AD6F-FEC870BF6C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47A447-5D3C-4454-8C44-FD48D92B5E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177679-258C-41DB-BCB3-F19493B085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FCB2A3-EB86-4C75-BB71-CF0A3FDD71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27575A-0C52-40E8-8DD6-7D0319590E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692E6C-AE16-4122-9D4A-FC027B3F14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A59155-D5C9-4444-BFA9-C9353F5B43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4C71C2-882A-4234-8735-6357F781C2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9F9B2D-9E13-4E69-A8E4-94EEDB24EC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A414BB-9BD1-4550-8C13-66B9AA3E57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B62468-8419-4DA2-B3E7-6465895E66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9.png"/><Relationship Id="rId12" Type="http://schemas.openxmlformats.org/officeDocument/2006/relationships/image" Target="../media/image10.svg"/><Relationship Id="rId13" Type="http://schemas.openxmlformats.org/officeDocument/2006/relationships/image" Target="../media/image11.png"/><Relationship Id="rId14" Type="http://schemas.openxmlformats.org/officeDocument/2006/relationships/image" Target="../media/image12.svg"/><Relationship Id="rId15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9.png"/><Relationship Id="rId14" Type="http://schemas.openxmlformats.org/officeDocument/2006/relationships/image" Target="../media/image10.svg"/><Relationship Id="rId15" Type="http://schemas.openxmlformats.org/officeDocument/2006/relationships/image" Target="../media/image15.png"/><Relationship Id="rId16" Type="http://schemas.openxmlformats.org/officeDocument/2006/relationships/image" Target="../media/image16.svg"/><Relationship Id="rId17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9.png"/><Relationship Id="rId14" Type="http://schemas.openxmlformats.org/officeDocument/2006/relationships/image" Target="../media/image10.svg"/><Relationship Id="rId15" Type="http://schemas.openxmlformats.org/officeDocument/2006/relationships/image" Target="../media/image15.png"/><Relationship Id="rId16" Type="http://schemas.openxmlformats.org/officeDocument/2006/relationships/image" Target="../media/image16.svg"/><Relationship Id="rId17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7.png"/><Relationship Id="rId1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8.png"/><Relationship Id="rId1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9.png"/><Relationship Id="rId1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20.png"/><Relationship Id="rId1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21.png"/><Relationship Id="rId14" Type="http://schemas.openxmlformats.org/officeDocument/2006/relationships/image" Target="../media/image22.svg"/><Relationship Id="rId15" Type="http://schemas.openxmlformats.org/officeDocument/2006/relationships/image" Target="../media/image15.png"/><Relationship Id="rId16" Type="http://schemas.openxmlformats.org/officeDocument/2006/relationships/image" Target="../media/image16.svg"/><Relationship Id="rId17" Type="http://schemas.openxmlformats.org/officeDocument/2006/relationships/image" Target="../media/image23.png"/><Relationship Id="rId18" Type="http://schemas.openxmlformats.org/officeDocument/2006/relationships/image" Target="../media/image24.svg"/><Relationship Id="rId19" Type="http://schemas.openxmlformats.org/officeDocument/2006/relationships/image" Target="../media/image21.png"/><Relationship Id="rId20" Type="http://schemas.openxmlformats.org/officeDocument/2006/relationships/image" Target="../media/image22.svg"/><Relationship Id="rId21" Type="http://schemas.openxmlformats.org/officeDocument/2006/relationships/image" Target="../media/image9.png"/><Relationship Id="rId22" Type="http://schemas.openxmlformats.org/officeDocument/2006/relationships/image" Target="../media/image10.svg"/><Relationship Id="rId23" Type="http://schemas.openxmlformats.org/officeDocument/2006/relationships/image" Target="../media/image25.png"/><Relationship Id="rId24" Type="http://schemas.openxmlformats.org/officeDocument/2006/relationships/image" Target="../media/image26.svg"/><Relationship Id="rId2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27.png"/><Relationship Id="rId1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28.png"/><Relationship Id="rId1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21.png"/><Relationship Id="rId14" Type="http://schemas.openxmlformats.org/officeDocument/2006/relationships/image" Target="../media/image22.svg"/><Relationship Id="rId15" Type="http://schemas.openxmlformats.org/officeDocument/2006/relationships/image" Target="../media/image15.png"/><Relationship Id="rId16" Type="http://schemas.openxmlformats.org/officeDocument/2006/relationships/image" Target="../media/image16.svg"/><Relationship Id="rId17" Type="http://schemas.openxmlformats.org/officeDocument/2006/relationships/image" Target="../media/image21.png"/><Relationship Id="rId18" Type="http://schemas.openxmlformats.org/officeDocument/2006/relationships/image" Target="../media/image22.svg"/><Relationship Id="rId19" Type="http://schemas.openxmlformats.org/officeDocument/2006/relationships/image" Target="../media/image9.png"/><Relationship Id="rId20" Type="http://schemas.openxmlformats.org/officeDocument/2006/relationships/image" Target="../media/image10.svg"/><Relationship Id="rId21" Type="http://schemas.openxmlformats.org/officeDocument/2006/relationships/image" Target="../media/image29.png"/><Relationship Id="rId22" Type="http://schemas.openxmlformats.org/officeDocument/2006/relationships/image" Target="../media/image30.svg"/><Relationship Id="rId23" Type="http://schemas.openxmlformats.org/officeDocument/2006/relationships/image" Target="../media/image31.png"/><Relationship Id="rId24" Type="http://schemas.openxmlformats.org/officeDocument/2006/relationships/image" Target="../media/image32.svg"/><Relationship Id="rId25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9.png"/><Relationship Id="rId12" Type="http://schemas.openxmlformats.org/officeDocument/2006/relationships/image" Target="../media/image10.svg"/><Relationship Id="rId13" Type="http://schemas.openxmlformats.org/officeDocument/2006/relationships/image" Target="../media/image33.png"/><Relationship Id="rId14" Type="http://schemas.openxmlformats.org/officeDocument/2006/relationships/image" Target="../media/image34.svg"/><Relationship Id="rId15" Type="http://schemas.openxmlformats.org/officeDocument/2006/relationships/image" Target="../media/image15.png"/><Relationship Id="rId16" Type="http://schemas.openxmlformats.org/officeDocument/2006/relationships/image" Target="../media/image16.svg"/><Relationship Id="rId17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35.png"/><Relationship Id="rId1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36.png"/><Relationship Id="rId1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15.png"/><Relationship Id="rId14" Type="http://schemas.openxmlformats.org/officeDocument/2006/relationships/image" Target="../media/image16.svg"/><Relationship Id="rId15" Type="http://schemas.openxmlformats.org/officeDocument/2006/relationships/image" Target="../media/image37.png"/><Relationship Id="rId16" Type="http://schemas.openxmlformats.org/officeDocument/2006/relationships/image" Target="../media/image38.svg"/><Relationship Id="rId17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15.png"/><Relationship Id="rId14" Type="http://schemas.openxmlformats.org/officeDocument/2006/relationships/image" Target="../media/image16.svg"/><Relationship Id="rId15" Type="http://schemas.openxmlformats.org/officeDocument/2006/relationships/image" Target="../media/image37.png"/><Relationship Id="rId16" Type="http://schemas.openxmlformats.org/officeDocument/2006/relationships/image" Target="../media/image38.svg"/><Relationship Id="rId17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15.png"/><Relationship Id="rId14" Type="http://schemas.openxmlformats.org/officeDocument/2006/relationships/image" Target="../media/image16.svg"/><Relationship Id="rId15" Type="http://schemas.openxmlformats.org/officeDocument/2006/relationships/image" Target="../media/image37.png"/><Relationship Id="rId16" Type="http://schemas.openxmlformats.org/officeDocument/2006/relationships/image" Target="../media/image38.svg"/><Relationship Id="rId17" Type="http://schemas.openxmlformats.org/officeDocument/2006/relationships/image" Target="../media/image39.png"/><Relationship Id="rId18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40.png"/><Relationship Id="rId1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41.png"/><Relationship Id="rId12" Type="http://schemas.openxmlformats.org/officeDocument/2006/relationships/image" Target="../media/image42.svg"/><Relationship Id="rId13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33.png"/><Relationship Id="rId12" Type="http://schemas.openxmlformats.org/officeDocument/2006/relationships/image" Target="../media/image34.svg"/><Relationship Id="rId13" Type="http://schemas.openxmlformats.org/officeDocument/2006/relationships/image" Target="../media/image15.png"/><Relationship Id="rId14" Type="http://schemas.openxmlformats.org/officeDocument/2006/relationships/image" Target="../media/image16.svg"/><Relationship Id="rId15" Type="http://schemas.openxmlformats.org/officeDocument/2006/relationships/image" Target="../media/image9.png"/><Relationship Id="rId16" Type="http://schemas.openxmlformats.org/officeDocument/2006/relationships/image" Target="../media/image10.svg"/><Relationship Id="rId17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33.png"/><Relationship Id="rId12" Type="http://schemas.openxmlformats.org/officeDocument/2006/relationships/image" Target="../media/image34.svg"/><Relationship Id="rId13" Type="http://schemas.openxmlformats.org/officeDocument/2006/relationships/image" Target="../media/image15.png"/><Relationship Id="rId14" Type="http://schemas.openxmlformats.org/officeDocument/2006/relationships/image" Target="../media/image16.svg"/><Relationship Id="rId15" Type="http://schemas.openxmlformats.org/officeDocument/2006/relationships/image" Target="../media/image9.png"/><Relationship Id="rId16" Type="http://schemas.openxmlformats.org/officeDocument/2006/relationships/image" Target="../media/image10.svg"/><Relationship Id="rId17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33.png"/><Relationship Id="rId12" Type="http://schemas.openxmlformats.org/officeDocument/2006/relationships/image" Target="../media/image34.svg"/><Relationship Id="rId13" Type="http://schemas.openxmlformats.org/officeDocument/2006/relationships/image" Target="../media/image15.png"/><Relationship Id="rId14" Type="http://schemas.openxmlformats.org/officeDocument/2006/relationships/image" Target="../media/image16.svg"/><Relationship Id="rId15" Type="http://schemas.openxmlformats.org/officeDocument/2006/relationships/image" Target="../media/image9.png"/><Relationship Id="rId16" Type="http://schemas.openxmlformats.org/officeDocument/2006/relationships/image" Target="../media/image10.svg"/><Relationship Id="rId17" Type="http://schemas.openxmlformats.org/officeDocument/2006/relationships/image" Target="../media/image43.png"/><Relationship Id="rId18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15.png"/><Relationship Id="rId14" Type="http://schemas.openxmlformats.org/officeDocument/2006/relationships/image" Target="../media/image16.svg"/><Relationship Id="rId15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44.png"/><Relationship Id="rId12" Type="http://schemas.openxmlformats.org/officeDocument/2006/relationships/image" Target="../media/image45.svg"/><Relationship Id="rId13" Type="http://schemas.openxmlformats.org/officeDocument/2006/relationships/image" Target="../media/image46.png"/><Relationship Id="rId14" Type="http://schemas.openxmlformats.org/officeDocument/2006/relationships/image" Target="../media/image47.svg"/><Relationship Id="rId15" Type="http://schemas.openxmlformats.org/officeDocument/2006/relationships/image" Target="../media/image48.png"/><Relationship Id="rId16" Type="http://schemas.openxmlformats.org/officeDocument/2006/relationships/image" Target="../media/image49.svg"/><Relationship Id="rId17" Type="http://schemas.openxmlformats.org/officeDocument/2006/relationships/image" Target="../media/image15.png"/><Relationship Id="rId18" Type="http://schemas.openxmlformats.org/officeDocument/2006/relationships/image" Target="../media/image16.svg"/><Relationship Id="rId19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44.png"/><Relationship Id="rId12" Type="http://schemas.openxmlformats.org/officeDocument/2006/relationships/image" Target="../media/image45.svg"/><Relationship Id="rId13" Type="http://schemas.openxmlformats.org/officeDocument/2006/relationships/image" Target="../media/image46.png"/><Relationship Id="rId14" Type="http://schemas.openxmlformats.org/officeDocument/2006/relationships/image" Target="../media/image47.svg"/><Relationship Id="rId15" Type="http://schemas.openxmlformats.org/officeDocument/2006/relationships/image" Target="../media/image48.png"/><Relationship Id="rId16" Type="http://schemas.openxmlformats.org/officeDocument/2006/relationships/image" Target="../media/image49.svg"/><Relationship Id="rId17" Type="http://schemas.openxmlformats.org/officeDocument/2006/relationships/image" Target="../media/image15.png"/><Relationship Id="rId18" Type="http://schemas.openxmlformats.org/officeDocument/2006/relationships/image" Target="../media/image16.svg"/><Relationship Id="rId19" Type="http://schemas.openxmlformats.org/officeDocument/2006/relationships/image" Target="../media/image50.png"/><Relationship Id="rId20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44.png"/><Relationship Id="rId12" Type="http://schemas.openxmlformats.org/officeDocument/2006/relationships/image" Target="../media/image45.svg"/><Relationship Id="rId13" Type="http://schemas.openxmlformats.org/officeDocument/2006/relationships/image" Target="../media/image46.png"/><Relationship Id="rId14" Type="http://schemas.openxmlformats.org/officeDocument/2006/relationships/image" Target="../media/image47.svg"/><Relationship Id="rId15" Type="http://schemas.openxmlformats.org/officeDocument/2006/relationships/image" Target="../media/image48.png"/><Relationship Id="rId16" Type="http://schemas.openxmlformats.org/officeDocument/2006/relationships/image" Target="../media/image49.svg"/><Relationship Id="rId17" Type="http://schemas.openxmlformats.org/officeDocument/2006/relationships/image" Target="../media/image15.png"/><Relationship Id="rId18" Type="http://schemas.openxmlformats.org/officeDocument/2006/relationships/image" Target="../media/image16.svg"/><Relationship Id="rId19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44.png"/><Relationship Id="rId12" Type="http://schemas.openxmlformats.org/officeDocument/2006/relationships/image" Target="../media/image45.svg"/><Relationship Id="rId13" Type="http://schemas.openxmlformats.org/officeDocument/2006/relationships/image" Target="../media/image46.png"/><Relationship Id="rId14" Type="http://schemas.openxmlformats.org/officeDocument/2006/relationships/image" Target="../media/image47.svg"/><Relationship Id="rId15" Type="http://schemas.openxmlformats.org/officeDocument/2006/relationships/image" Target="../media/image48.png"/><Relationship Id="rId16" Type="http://schemas.openxmlformats.org/officeDocument/2006/relationships/image" Target="../media/image49.svg"/><Relationship Id="rId17" Type="http://schemas.openxmlformats.org/officeDocument/2006/relationships/image" Target="../media/image15.png"/><Relationship Id="rId18" Type="http://schemas.openxmlformats.org/officeDocument/2006/relationships/image" Target="../media/image16.svg"/><Relationship Id="rId19" Type="http://schemas.openxmlformats.org/officeDocument/2006/relationships/image" Target="../media/image51.png"/><Relationship Id="rId20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44.png"/><Relationship Id="rId12" Type="http://schemas.openxmlformats.org/officeDocument/2006/relationships/image" Target="../media/image45.svg"/><Relationship Id="rId13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44.png"/><Relationship Id="rId12" Type="http://schemas.openxmlformats.org/officeDocument/2006/relationships/image" Target="../media/image45.svg"/><Relationship Id="rId13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44.png"/><Relationship Id="rId12" Type="http://schemas.openxmlformats.org/officeDocument/2006/relationships/image" Target="../media/image45.svg"/><Relationship Id="rId13" Type="http://schemas.openxmlformats.org/officeDocument/2006/relationships/image" Target="../media/image52.png"/><Relationship Id="rId14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53.png"/><Relationship Id="rId14" Type="http://schemas.openxmlformats.org/officeDocument/2006/relationships/image" Target="../media/image54.svg"/><Relationship Id="rId15" Type="http://schemas.openxmlformats.org/officeDocument/2006/relationships/image" Target="../media/image53.png"/><Relationship Id="rId16" Type="http://schemas.openxmlformats.org/officeDocument/2006/relationships/image" Target="../media/image54.svg"/><Relationship Id="rId17" Type="http://schemas.openxmlformats.org/officeDocument/2006/relationships/image" Target="../media/image9.png"/><Relationship Id="rId18" Type="http://schemas.openxmlformats.org/officeDocument/2006/relationships/image" Target="../media/image10.svg"/><Relationship Id="rId19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51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3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54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6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60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2" name="Group 14"/>
          <p:cNvGrpSpPr/>
          <p:nvPr/>
        </p:nvGrpSpPr>
        <p:grpSpPr>
          <a:xfrm>
            <a:off x="1135440" y="9048960"/>
            <a:ext cx="1270440" cy="796680"/>
            <a:chOff x="1135440" y="9048960"/>
            <a:chExt cx="1270440" cy="796680"/>
          </a:xfrm>
        </p:grpSpPr>
        <p:sp>
          <p:nvSpPr>
            <p:cNvPr id="63" name="Freeform 15"/>
            <p:cNvSpPr/>
            <p:nvPr/>
          </p:nvSpPr>
          <p:spPr>
            <a:xfrm>
              <a:off x="11354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" name="TextBox 16"/>
            <p:cNvSpPr/>
            <p:nvPr/>
          </p:nvSpPr>
          <p:spPr>
            <a:xfrm>
              <a:off x="11354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5" name="Group 17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66" name="Freeform 18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" name="TextBox 19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8" name="Group 20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69" name="Freeform 21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" name="TextBox 22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1" name="Freeform 23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Freeform 24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25"/>
          <p:cNvSpPr/>
          <p:nvPr/>
        </p:nvSpPr>
        <p:spPr>
          <a:xfrm>
            <a:off x="1688400" y="4200480"/>
            <a:ext cx="14910480" cy="25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9712"/>
              </a:lnSpc>
            </a:pPr>
            <a:r>
              <a:rPr b="1" lang="en-US" sz="19710" spc="-670" strike="noStrike">
                <a:solidFill>
                  <a:srgbClr val="0057cc"/>
                </a:solidFill>
                <a:latin typeface="Anonymous Pro Bold"/>
                <a:ea typeface="Anonymous Pro Bold"/>
              </a:rPr>
              <a:t>COMPUTERS</a:t>
            </a:r>
            <a:endParaRPr b="0" lang="pt-BR" sz="197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Freeform 26"/>
          <p:cNvSpPr/>
          <p:nvPr/>
        </p:nvSpPr>
        <p:spPr>
          <a:xfrm>
            <a:off x="14227920" y="5926680"/>
            <a:ext cx="764640" cy="1302840"/>
          </a:xfrm>
          <a:custGeom>
            <a:avLst/>
            <a:gdLst>
              <a:gd name="textAreaLeft" fmla="*/ 0 w 764640"/>
              <a:gd name="textAreaRight" fmla="*/ 765720 w 764640"/>
              <a:gd name="textAreaTop" fmla="*/ 0 h 1302840"/>
              <a:gd name="textAreaBottom" fmla="*/ 1303920 h 1302840"/>
            </a:gdLst>
            <a:ahLst/>
            <a:rect l="textAreaLeft" t="textAreaTop" r="textAreaRight" b="textAreaBottom"/>
            <a:pathLst>
              <a:path w="765682" h="130379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Freeform 27"/>
          <p:cNvSpPr/>
          <p:nvPr/>
        </p:nvSpPr>
        <p:spPr>
          <a:xfrm>
            <a:off x="8082000" y="7535160"/>
            <a:ext cx="2122560" cy="585720"/>
          </a:xfrm>
          <a:custGeom>
            <a:avLst/>
            <a:gdLst>
              <a:gd name="textAreaLeft" fmla="*/ 0 w 2122560"/>
              <a:gd name="textAreaRight" fmla="*/ 2123640 w 2122560"/>
              <a:gd name="textAreaTop" fmla="*/ 0 h 585720"/>
              <a:gd name="textAreaBottom" fmla="*/ 586800 h 585720"/>
            </a:gdLst>
            <a:ahLst/>
            <a:rect l="textAreaLeft" t="textAreaTop" r="textAreaRight" b="textAreaBottom"/>
            <a:pathLst>
              <a:path w="2123787" h="586938">
                <a:moveTo>
                  <a:pt x="0" y="0"/>
                </a:moveTo>
                <a:lnTo>
                  <a:pt x="2123788" y="0"/>
                </a:lnTo>
                <a:lnTo>
                  <a:pt x="2123788" y="586938"/>
                </a:lnTo>
                <a:lnTo>
                  <a:pt x="0" y="5869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8"/>
          <p:cNvSpPr/>
          <p:nvPr/>
        </p:nvSpPr>
        <p:spPr>
          <a:xfrm>
            <a:off x="6352560" y="3606840"/>
            <a:ext cx="55814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818"/>
              </a:lnSpc>
            </a:pPr>
            <a:r>
              <a:rPr b="0" lang="en-US" sz="3820" spc="-1" strike="noStrike">
                <a:solidFill>
                  <a:srgbClr val="000000"/>
                </a:solidFill>
                <a:latin typeface="Courier New"/>
                <a:ea typeface="Courier New"/>
              </a:rPr>
              <a:t>MONITORIA DE POO</a:t>
            </a:r>
            <a:endParaRPr b="0" lang="pt-BR" sz="3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29"/>
          <p:cNvSpPr/>
          <p:nvPr/>
        </p:nvSpPr>
        <p:spPr>
          <a:xfrm>
            <a:off x="4270680" y="6502320"/>
            <a:ext cx="9745200" cy="6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95"/>
              </a:lnSpc>
            </a:pPr>
            <a:r>
              <a:rPr b="0" lang="en-US" sz="3780" spc="423" strike="noStrike">
                <a:solidFill>
                  <a:srgbClr val="000000"/>
                </a:solidFill>
                <a:latin typeface="Courier New"/>
                <a:ea typeface="Courier New"/>
              </a:rPr>
              <a:t>REVISÃO: FUP</a:t>
            </a:r>
            <a:endParaRPr b="0" lang="pt-BR" sz="3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30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31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32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3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83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5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86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8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1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92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4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95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7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98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0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Freeform 22"/>
          <p:cNvSpPr/>
          <p:nvPr/>
        </p:nvSpPr>
        <p:spPr>
          <a:xfrm>
            <a:off x="2310840" y="4102560"/>
            <a:ext cx="5797440" cy="3087720"/>
          </a:xfrm>
          <a:custGeom>
            <a:avLst/>
            <a:gdLst>
              <a:gd name="textAreaLeft" fmla="*/ 0 w 5797440"/>
              <a:gd name="textAreaRight" fmla="*/ 5798520 w 5797440"/>
              <a:gd name="textAreaTop" fmla="*/ 0 h 3087720"/>
              <a:gd name="textAreaBottom" fmla="*/ 3088800 h 3087720"/>
            </a:gdLst>
            <a:ahLst/>
            <a:rect l="textAreaLeft" t="textAreaTop" r="textAreaRight" b="textAreaBottom"/>
            <a:pathLst>
              <a:path w="5798369" h="308894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Freeform 23"/>
          <p:cNvSpPr/>
          <p:nvPr/>
        </p:nvSpPr>
        <p:spPr>
          <a:xfrm>
            <a:off x="7336800" y="6800400"/>
            <a:ext cx="639360" cy="1089720"/>
          </a:xfrm>
          <a:custGeom>
            <a:avLst/>
            <a:gdLst>
              <a:gd name="textAreaLeft" fmla="*/ 0 w 639360"/>
              <a:gd name="textAreaRight" fmla="*/ 640440 w 639360"/>
              <a:gd name="textAreaTop" fmla="*/ 0 h 1089720"/>
              <a:gd name="textAreaBottom" fmla="*/ 1090800 h 1089720"/>
            </a:gdLst>
            <a:ahLst/>
            <a:rect l="textAreaLeft" t="textAreaTop" r="textAreaRight" b="textAreaBottom"/>
            <a:pathLst>
              <a:path w="640554" h="1090726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Freeform 24"/>
          <p:cNvSpPr/>
          <p:nvPr/>
        </p:nvSpPr>
        <p:spPr>
          <a:xfrm>
            <a:off x="2092680" y="3762720"/>
            <a:ext cx="1047960" cy="1017360"/>
          </a:xfrm>
          <a:custGeom>
            <a:avLst/>
            <a:gdLst>
              <a:gd name="textAreaLeft" fmla="*/ 0 w 1047960"/>
              <a:gd name="textAreaRight" fmla="*/ 1049040 w 1047960"/>
              <a:gd name="textAreaTop" fmla="*/ 0 h 1017360"/>
              <a:gd name="textAreaBottom" fmla="*/ 1018440 h 1017360"/>
            </a:gdLst>
            <a:ahLst/>
            <a:rect l="textAreaLeft" t="textAreaTop" r="textAreaRight" b="textAreaBottom"/>
            <a:pathLst>
              <a:path w="1048895" h="1018382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25"/>
          <p:cNvSpPr/>
          <p:nvPr/>
        </p:nvSpPr>
        <p:spPr>
          <a:xfrm>
            <a:off x="2442600" y="5267160"/>
            <a:ext cx="5533560" cy="80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307"/>
              </a:lnSpc>
            </a:pPr>
            <a:r>
              <a:rPr b="1" lang="en-US" sz="7419" spc="-253" strike="noStrike">
                <a:solidFill>
                  <a:srgbClr val="000000"/>
                </a:solidFill>
                <a:latin typeface="Anonymous Pro Bold"/>
                <a:ea typeface="Anonymous Pro Bold"/>
              </a:rPr>
              <a:t>ALGORITMO</a:t>
            </a:r>
            <a:endParaRPr b="0" lang="pt-BR" sz="74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26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27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8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9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0" name="Group 30"/>
          <p:cNvGrpSpPr/>
          <p:nvPr/>
        </p:nvGrpSpPr>
        <p:grpSpPr>
          <a:xfrm>
            <a:off x="2889720" y="9048960"/>
            <a:ext cx="1270440" cy="796680"/>
            <a:chOff x="2889720" y="9048960"/>
            <a:chExt cx="1270440" cy="796680"/>
          </a:xfrm>
        </p:grpSpPr>
        <p:sp>
          <p:nvSpPr>
            <p:cNvPr id="111" name="Freeform 31"/>
            <p:cNvSpPr/>
            <p:nvPr/>
          </p:nvSpPr>
          <p:spPr>
            <a:xfrm>
              <a:off x="288972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" name="TextBox 32"/>
            <p:cNvSpPr/>
            <p:nvPr/>
          </p:nvSpPr>
          <p:spPr>
            <a:xfrm>
              <a:off x="288972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114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6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117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9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2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123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5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126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8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129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1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Freeform 22"/>
          <p:cNvSpPr/>
          <p:nvPr/>
        </p:nvSpPr>
        <p:spPr>
          <a:xfrm>
            <a:off x="2310840" y="4102560"/>
            <a:ext cx="5797440" cy="3087720"/>
          </a:xfrm>
          <a:custGeom>
            <a:avLst/>
            <a:gdLst>
              <a:gd name="textAreaLeft" fmla="*/ 0 w 5797440"/>
              <a:gd name="textAreaRight" fmla="*/ 5798520 w 5797440"/>
              <a:gd name="textAreaTop" fmla="*/ 0 h 3087720"/>
              <a:gd name="textAreaBottom" fmla="*/ 3088800 h 3087720"/>
            </a:gdLst>
            <a:ahLst/>
            <a:rect l="textAreaLeft" t="textAreaTop" r="textAreaRight" b="textAreaBottom"/>
            <a:pathLst>
              <a:path w="5798369" h="308894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Freeform 23"/>
          <p:cNvSpPr/>
          <p:nvPr/>
        </p:nvSpPr>
        <p:spPr>
          <a:xfrm>
            <a:off x="7336800" y="6800400"/>
            <a:ext cx="639360" cy="1089720"/>
          </a:xfrm>
          <a:custGeom>
            <a:avLst/>
            <a:gdLst>
              <a:gd name="textAreaLeft" fmla="*/ 0 w 639360"/>
              <a:gd name="textAreaRight" fmla="*/ 640440 w 639360"/>
              <a:gd name="textAreaTop" fmla="*/ 0 h 1089720"/>
              <a:gd name="textAreaBottom" fmla="*/ 1090800 h 1089720"/>
            </a:gdLst>
            <a:ahLst/>
            <a:rect l="textAreaLeft" t="textAreaTop" r="textAreaRight" b="textAreaBottom"/>
            <a:pathLst>
              <a:path w="640554" h="1090726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Freeform 24"/>
          <p:cNvSpPr/>
          <p:nvPr/>
        </p:nvSpPr>
        <p:spPr>
          <a:xfrm>
            <a:off x="2092680" y="3762720"/>
            <a:ext cx="1047960" cy="1017360"/>
          </a:xfrm>
          <a:custGeom>
            <a:avLst/>
            <a:gdLst>
              <a:gd name="textAreaLeft" fmla="*/ 0 w 1047960"/>
              <a:gd name="textAreaRight" fmla="*/ 1049040 w 1047960"/>
              <a:gd name="textAreaTop" fmla="*/ 0 h 1017360"/>
              <a:gd name="textAreaBottom" fmla="*/ 1018440 h 1017360"/>
            </a:gdLst>
            <a:ahLst/>
            <a:rect l="textAreaLeft" t="textAreaTop" r="textAreaRight" b="textAreaBottom"/>
            <a:pathLst>
              <a:path w="1048895" h="1018382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25"/>
          <p:cNvSpPr/>
          <p:nvPr/>
        </p:nvSpPr>
        <p:spPr>
          <a:xfrm>
            <a:off x="2442600" y="5267160"/>
            <a:ext cx="5533560" cy="80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307"/>
              </a:lnSpc>
            </a:pPr>
            <a:r>
              <a:rPr b="1" lang="en-US" sz="7419" spc="-253" strike="noStrike">
                <a:solidFill>
                  <a:srgbClr val="000000"/>
                </a:solidFill>
                <a:latin typeface="Anonymous Pro Bold"/>
                <a:ea typeface="Anonymous Pro Bold"/>
              </a:rPr>
              <a:t>ALGORITMO</a:t>
            </a:r>
            <a:endParaRPr b="0" lang="pt-BR" sz="74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26"/>
          <p:cNvSpPr/>
          <p:nvPr/>
        </p:nvSpPr>
        <p:spPr>
          <a:xfrm>
            <a:off x="8856000" y="4195800"/>
            <a:ext cx="7120080" cy="41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34"/>
              </a:lnSpc>
            </a:pPr>
            <a:r>
              <a:rPr b="0" lang="en-US" sz="2590" spc="-1" strike="noStrike">
                <a:solidFill>
                  <a:srgbClr val="000000"/>
                </a:solidFill>
                <a:latin typeface="Courier New"/>
                <a:ea typeface="Courier New"/>
              </a:rPr>
              <a:t>Sequência de passos bem definidos para resolver um problema ou executar uma tarefa.</a:t>
            </a:r>
            <a:endParaRPr b="0" lang="pt-BR" sz="25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234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234"/>
              </a:lnSpc>
            </a:pPr>
            <a:r>
              <a:rPr b="0" lang="en-US" sz="2590" spc="-1" strike="noStrike">
                <a:solidFill>
                  <a:srgbClr val="000000"/>
                </a:solidFill>
                <a:latin typeface="Courier New"/>
                <a:ea typeface="Courier New"/>
              </a:rPr>
              <a:t>👉 </a:t>
            </a:r>
            <a:r>
              <a:rPr b="0" lang="en-US" sz="2590" spc="-1" strike="noStrike">
                <a:solidFill>
                  <a:srgbClr val="000000"/>
                </a:solidFill>
                <a:latin typeface="Courier New"/>
                <a:ea typeface="Courier New"/>
              </a:rPr>
              <a:t>É como uma receita: você segue etapas para chegar a um resultado.</a:t>
            </a:r>
            <a:endParaRPr b="0" lang="pt-BR" sz="25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234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234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234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234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27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8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29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30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2" name="Group 31"/>
          <p:cNvGrpSpPr/>
          <p:nvPr/>
        </p:nvGrpSpPr>
        <p:grpSpPr>
          <a:xfrm>
            <a:off x="2889720" y="9048960"/>
            <a:ext cx="1270440" cy="796680"/>
            <a:chOff x="2889720" y="9048960"/>
            <a:chExt cx="1270440" cy="796680"/>
          </a:xfrm>
        </p:grpSpPr>
        <p:sp>
          <p:nvSpPr>
            <p:cNvPr id="143" name="Freeform 32"/>
            <p:cNvSpPr/>
            <p:nvPr/>
          </p:nvSpPr>
          <p:spPr>
            <a:xfrm>
              <a:off x="288972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" name="TextBox 33"/>
            <p:cNvSpPr/>
            <p:nvPr/>
          </p:nvSpPr>
          <p:spPr>
            <a:xfrm>
              <a:off x="288972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146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8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149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1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4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155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7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158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0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161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3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5" name="Group 22"/>
          <p:cNvGrpSpPr/>
          <p:nvPr/>
        </p:nvGrpSpPr>
        <p:grpSpPr>
          <a:xfrm>
            <a:off x="4073040" y="9048960"/>
            <a:ext cx="1270440" cy="796680"/>
            <a:chOff x="4073040" y="9048960"/>
            <a:chExt cx="1270440" cy="796680"/>
          </a:xfrm>
        </p:grpSpPr>
        <p:sp>
          <p:nvSpPr>
            <p:cNvPr id="166" name="Freeform 23"/>
            <p:cNvSpPr/>
            <p:nvPr/>
          </p:nvSpPr>
          <p:spPr>
            <a:xfrm>
              <a:off x="40730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" name="TextBox 24"/>
            <p:cNvSpPr/>
            <p:nvPr/>
          </p:nvSpPr>
          <p:spPr>
            <a:xfrm>
              <a:off x="40730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8" name="Freeform 25"/>
          <p:cNvSpPr/>
          <p:nvPr/>
        </p:nvSpPr>
        <p:spPr>
          <a:xfrm>
            <a:off x="4928760" y="3246120"/>
            <a:ext cx="8429400" cy="1896480"/>
          </a:xfrm>
          <a:custGeom>
            <a:avLst/>
            <a:gdLst>
              <a:gd name="textAreaLeft" fmla="*/ 0 w 8429400"/>
              <a:gd name="textAreaRight" fmla="*/ 8430480 w 8429400"/>
              <a:gd name="textAreaTop" fmla="*/ 0 h 1896480"/>
              <a:gd name="textAreaBottom" fmla="*/ 1897560 h 1896480"/>
            </a:gdLst>
            <a:ahLst/>
            <a:rect l="textAreaLeft" t="textAreaTop" r="textAreaRight" b="textAreaBottom"/>
            <a:pathLst>
              <a:path w="8430458" h="1897461">
                <a:moveTo>
                  <a:pt x="0" y="0"/>
                </a:moveTo>
                <a:lnTo>
                  <a:pt x="8430458" y="0"/>
                </a:lnTo>
                <a:lnTo>
                  <a:pt x="8430458" y="1897461"/>
                </a:lnTo>
                <a:lnTo>
                  <a:pt x="0" y="18974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26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27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28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29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30"/>
          <p:cNvSpPr/>
          <p:nvPr/>
        </p:nvSpPr>
        <p:spPr>
          <a:xfrm>
            <a:off x="2368080" y="3533760"/>
            <a:ext cx="84294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👉 </a:t>
            </a: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INÍCIO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175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7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178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0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3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184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6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187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9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190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92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4" name="Group 22"/>
          <p:cNvGrpSpPr/>
          <p:nvPr/>
        </p:nvGrpSpPr>
        <p:grpSpPr>
          <a:xfrm>
            <a:off x="4073040" y="9048960"/>
            <a:ext cx="1270440" cy="796680"/>
            <a:chOff x="4073040" y="9048960"/>
            <a:chExt cx="1270440" cy="796680"/>
          </a:xfrm>
        </p:grpSpPr>
        <p:sp>
          <p:nvSpPr>
            <p:cNvPr id="195" name="Freeform 23"/>
            <p:cNvSpPr/>
            <p:nvPr/>
          </p:nvSpPr>
          <p:spPr>
            <a:xfrm>
              <a:off x="40730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" name="TextBox 24"/>
            <p:cNvSpPr/>
            <p:nvPr/>
          </p:nvSpPr>
          <p:spPr>
            <a:xfrm>
              <a:off x="40730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97" name="Freeform 25"/>
          <p:cNvSpPr/>
          <p:nvPr/>
        </p:nvSpPr>
        <p:spPr>
          <a:xfrm>
            <a:off x="4928760" y="3246120"/>
            <a:ext cx="4960440" cy="4727880"/>
          </a:xfrm>
          <a:custGeom>
            <a:avLst/>
            <a:gdLst>
              <a:gd name="textAreaLeft" fmla="*/ 0 w 4960440"/>
              <a:gd name="textAreaRight" fmla="*/ 4961520 w 4960440"/>
              <a:gd name="textAreaTop" fmla="*/ 0 h 4727880"/>
              <a:gd name="textAreaBottom" fmla="*/ 4728960 h 4727880"/>
            </a:gdLst>
            <a:ahLst/>
            <a:rect l="textAreaLeft" t="textAreaTop" r="textAreaRight" b="textAreaBottom"/>
            <a:pathLst>
              <a:path w="4961581" h="4729043">
                <a:moveTo>
                  <a:pt x="0" y="0"/>
                </a:moveTo>
                <a:lnTo>
                  <a:pt x="4961581" y="0"/>
                </a:lnTo>
                <a:lnTo>
                  <a:pt x="4961581" y="4729043"/>
                </a:lnTo>
                <a:lnTo>
                  <a:pt x="0" y="47290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26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27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28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29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30"/>
          <p:cNvSpPr/>
          <p:nvPr/>
        </p:nvSpPr>
        <p:spPr>
          <a:xfrm>
            <a:off x="2590920" y="5819760"/>
            <a:ext cx="84294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CONDIÇÃO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31"/>
          <p:cNvSpPr/>
          <p:nvPr/>
        </p:nvSpPr>
        <p:spPr>
          <a:xfrm>
            <a:off x="2368080" y="3533760"/>
            <a:ext cx="84294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👉 </a:t>
            </a: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INÍCIO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205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07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208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10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3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214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16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217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19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220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22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4" name="Group 22"/>
          <p:cNvGrpSpPr/>
          <p:nvPr/>
        </p:nvGrpSpPr>
        <p:grpSpPr>
          <a:xfrm>
            <a:off x="4073040" y="9048960"/>
            <a:ext cx="1270440" cy="796680"/>
            <a:chOff x="4073040" y="9048960"/>
            <a:chExt cx="1270440" cy="796680"/>
          </a:xfrm>
        </p:grpSpPr>
        <p:sp>
          <p:nvSpPr>
            <p:cNvPr id="225" name="Freeform 23"/>
            <p:cNvSpPr/>
            <p:nvPr/>
          </p:nvSpPr>
          <p:spPr>
            <a:xfrm>
              <a:off x="40730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6" name="TextBox 24"/>
            <p:cNvSpPr/>
            <p:nvPr/>
          </p:nvSpPr>
          <p:spPr>
            <a:xfrm>
              <a:off x="40730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27" name="Freeform 25"/>
          <p:cNvSpPr/>
          <p:nvPr/>
        </p:nvSpPr>
        <p:spPr>
          <a:xfrm>
            <a:off x="4928760" y="3246120"/>
            <a:ext cx="8429400" cy="4727880"/>
          </a:xfrm>
          <a:custGeom>
            <a:avLst/>
            <a:gdLst>
              <a:gd name="textAreaLeft" fmla="*/ 0 w 8429400"/>
              <a:gd name="textAreaRight" fmla="*/ 8430480 w 8429400"/>
              <a:gd name="textAreaTop" fmla="*/ 0 h 4727880"/>
              <a:gd name="textAreaBottom" fmla="*/ 4728960 h 4727880"/>
            </a:gdLst>
            <a:ahLst/>
            <a:rect l="textAreaLeft" t="textAreaTop" r="textAreaRight" b="textAreaBottom"/>
            <a:pathLst>
              <a:path w="8430458" h="4729043">
                <a:moveTo>
                  <a:pt x="0" y="0"/>
                </a:moveTo>
                <a:lnTo>
                  <a:pt x="8430458" y="0"/>
                </a:lnTo>
                <a:lnTo>
                  <a:pt x="8430458" y="4729043"/>
                </a:lnTo>
                <a:lnTo>
                  <a:pt x="0" y="47290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26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27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28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29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30"/>
          <p:cNvSpPr/>
          <p:nvPr/>
        </p:nvSpPr>
        <p:spPr>
          <a:xfrm>
            <a:off x="2368080" y="3533760"/>
            <a:ext cx="84294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👉 </a:t>
            </a: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INÍCIO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31"/>
          <p:cNvSpPr/>
          <p:nvPr/>
        </p:nvSpPr>
        <p:spPr>
          <a:xfrm>
            <a:off x="7376760" y="5762520"/>
            <a:ext cx="84294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AÇÃO SE SIM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32"/>
          <p:cNvSpPr/>
          <p:nvPr/>
        </p:nvSpPr>
        <p:spPr>
          <a:xfrm>
            <a:off x="2590920" y="5819760"/>
            <a:ext cx="84294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CONDIÇÃO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236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38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239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41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4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245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47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248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50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251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53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5" name="Group 22"/>
          <p:cNvGrpSpPr/>
          <p:nvPr/>
        </p:nvGrpSpPr>
        <p:grpSpPr>
          <a:xfrm>
            <a:off x="4073040" y="9048960"/>
            <a:ext cx="1270440" cy="796680"/>
            <a:chOff x="4073040" y="9048960"/>
            <a:chExt cx="1270440" cy="796680"/>
          </a:xfrm>
        </p:grpSpPr>
        <p:sp>
          <p:nvSpPr>
            <p:cNvPr id="256" name="Freeform 23"/>
            <p:cNvSpPr/>
            <p:nvPr/>
          </p:nvSpPr>
          <p:spPr>
            <a:xfrm>
              <a:off x="40730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7" name="TextBox 24"/>
            <p:cNvSpPr/>
            <p:nvPr/>
          </p:nvSpPr>
          <p:spPr>
            <a:xfrm>
              <a:off x="40730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58" name="Freeform 25"/>
          <p:cNvSpPr/>
          <p:nvPr/>
        </p:nvSpPr>
        <p:spPr>
          <a:xfrm>
            <a:off x="4928760" y="3246120"/>
            <a:ext cx="8429400" cy="5654880"/>
          </a:xfrm>
          <a:custGeom>
            <a:avLst/>
            <a:gdLst>
              <a:gd name="textAreaLeft" fmla="*/ 0 w 8429400"/>
              <a:gd name="textAreaRight" fmla="*/ 8430480 w 8429400"/>
              <a:gd name="textAreaTop" fmla="*/ 0 h 5654880"/>
              <a:gd name="textAreaBottom" fmla="*/ 5655960 h 5654880"/>
            </a:gdLst>
            <a:ahLst/>
            <a:rect l="textAreaLeft" t="textAreaTop" r="textAreaRight" b="textAreaBottom"/>
            <a:pathLst>
              <a:path w="8430458" h="5656071">
                <a:moveTo>
                  <a:pt x="0" y="0"/>
                </a:moveTo>
                <a:lnTo>
                  <a:pt x="8430458" y="0"/>
                </a:lnTo>
                <a:lnTo>
                  <a:pt x="8430458" y="5656070"/>
                </a:lnTo>
                <a:lnTo>
                  <a:pt x="0" y="56560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26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27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28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29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30"/>
          <p:cNvSpPr/>
          <p:nvPr/>
        </p:nvSpPr>
        <p:spPr>
          <a:xfrm>
            <a:off x="2368080" y="3533760"/>
            <a:ext cx="84294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👉 </a:t>
            </a: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INÍCIO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31"/>
          <p:cNvSpPr/>
          <p:nvPr/>
        </p:nvSpPr>
        <p:spPr>
          <a:xfrm>
            <a:off x="2634480" y="8253720"/>
            <a:ext cx="84294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AÇÃO SE NÃO OU FIM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32"/>
          <p:cNvSpPr/>
          <p:nvPr/>
        </p:nvSpPr>
        <p:spPr>
          <a:xfrm>
            <a:off x="7376760" y="5762520"/>
            <a:ext cx="84294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AÇÃO SE SIM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33"/>
          <p:cNvSpPr/>
          <p:nvPr/>
        </p:nvSpPr>
        <p:spPr>
          <a:xfrm>
            <a:off x="2590920" y="5819760"/>
            <a:ext cx="842940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1" lang="en-US" sz="1900" spc="-1" strike="noStrike">
                <a:solidFill>
                  <a:srgbClr val="000000"/>
                </a:solidFill>
                <a:latin typeface="Canva Sans Bold"/>
                <a:ea typeface="Canva Sans Bold"/>
              </a:rPr>
              <a:t>CONDIÇÃO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268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9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70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271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73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6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277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79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280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82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283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85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Freeform 22"/>
          <p:cNvSpPr/>
          <p:nvPr/>
        </p:nvSpPr>
        <p:spPr>
          <a:xfrm>
            <a:off x="3511080" y="3200400"/>
            <a:ext cx="5797440" cy="3087720"/>
          </a:xfrm>
          <a:custGeom>
            <a:avLst/>
            <a:gdLst>
              <a:gd name="textAreaLeft" fmla="*/ 0 w 5797440"/>
              <a:gd name="textAreaRight" fmla="*/ 5798520 w 5797440"/>
              <a:gd name="textAreaTop" fmla="*/ 0 h 3087720"/>
              <a:gd name="textAreaBottom" fmla="*/ 3088800 h 3087720"/>
            </a:gdLst>
            <a:ahLst/>
            <a:rect l="textAreaLeft" t="textAreaTop" r="textAreaRight" b="textAreaBottom"/>
            <a:pathLst>
              <a:path w="5798369" h="308894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8" name="Group 23"/>
          <p:cNvGrpSpPr/>
          <p:nvPr/>
        </p:nvGrpSpPr>
        <p:grpSpPr>
          <a:xfrm>
            <a:off x="5538600" y="9048960"/>
            <a:ext cx="1270440" cy="796680"/>
            <a:chOff x="5538600" y="9048960"/>
            <a:chExt cx="1270440" cy="796680"/>
          </a:xfrm>
        </p:grpSpPr>
        <p:sp>
          <p:nvSpPr>
            <p:cNvPr id="289" name="Freeform 24"/>
            <p:cNvSpPr/>
            <p:nvPr/>
          </p:nvSpPr>
          <p:spPr>
            <a:xfrm>
              <a:off x="553860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0" name="TextBox 25"/>
            <p:cNvSpPr/>
            <p:nvPr/>
          </p:nvSpPr>
          <p:spPr>
            <a:xfrm>
              <a:off x="553860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91" name="Freeform 26"/>
          <p:cNvSpPr/>
          <p:nvPr/>
        </p:nvSpPr>
        <p:spPr>
          <a:xfrm>
            <a:off x="10520640" y="3200400"/>
            <a:ext cx="2985120" cy="2985120"/>
          </a:xfrm>
          <a:custGeom>
            <a:avLst/>
            <a:gdLst>
              <a:gd name="textAreaLeft" fmla="*/ 0 w 2985120"/>
              <a:gd name="textAreaRight" fmla="*/ 2986200 w 2985120"/>
              <a:gd name="textAreaTop" fmla="*/ 0 h 2985120"/>
              <a:gd name="textAreaBottom" fmla="*/ 2986200 h 2985120"/>
            </a:gdLst>
            <a:ahLst/>
            <a:rect l="textAreaLeft" t="textAreaTop" r="textAreaRight" b="textAreaBottom"/>
            <a:pathLst>
              <a:path w="2986282" h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Freeform 27"/>
          <p:cNvSpPr/>
          <p:nvPr/>
        </p:nvSpPr>
        <p:spPr>
          <a:xfrm>
            <a:off x="3306960" y="3076200"/>
            <a:ext cx="1018440" cy="988920"/>
          </a:xfrm>
          <a:custGeom>
            <a:avLst/>
            <a:gdLst>
              <a:gd name="textAreaLeft" fmla="*/ 0 w 1018440"/>
              <a:gd name="textAreaRight" fmla="*/ 1019520 w 1018440"/>
              <a:gd name="textAreaTop" fmla="*/ 0 h 988920"/>
              <a:gd name="textAreaBottom" fmla="*/ 990000 h 988920"/>
            </a:gdLst>
            <a:ahLst/>
            <a:rect l="textAreaLeft" t="textAreaTop" r="textAreaRight" b="textAreaBottom"/>
            <a:pathLst>
              <a:path w="1019520" h="989861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Freeform 28"/>
          <p:cNvSpPr/>
          <p:nvPr/>
        </p:nvSpPr>
        <p:spPr>
          <a:xfrm>
            <a:off x="10913400" y="4061160"/>
            <a:ext cx="2199960" cy="1263600"/>
          </a:xfrm>
          <a:custGeom>
            <a:avLst/>
            <a:gdLst>
              <a:gd name="textAreaLeft" fmla="*/ 0 w 2199960"/>
              <a:gd name="textAreaRight" fmla="*/ 2201040 w 2199960"/>
              <a:gd name="textAreaTop" fmla="*/ 0 h 1263600"/>
              <a:gd name="textAreaBottom" fmla="*/ 1264680 h 1263600"/>
            </a:gdLst>
            <a:ahLst/>
            <a:rect l="textAreaLeft" t="textAreaTop" r="textAreaRight" b="textAreaBottom"/>
            <a:pathLst>
              <a:path w="2200907" h="1264521">
                <a:moveTo>
                  <a:pt x="0" y="0"/>
                </a:moveTo>
                <a:lnTo>
                  <a:pt x="2200907" y="0"/>
                </a:lnTo>
                <a:lnTo>
                  <a:pt x="2200907" y="1264522"/>
                </a:lnTo>
                <a:lnTo>
                  <a:pt x="0" y="12645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Freeform 29"/>
          <p:cNvSpPr/>
          <p:nvPr/>
        </p:nvSpPr>
        <p:spPr>
          <a:xfrm>
            <a:off x="12013920" y="5356440"/>
            <a:ext cx="2985120" cy="2985120"/>
          </a:xfrm>
          <a:custGeom>
            <a:avLst/>
            <a:gdLst>
              <a:gd name="textAreaLeft" fmla="*/ 0 w 2985120"/>
              <a:gd name="textAreaRight" fmla="*/ 2986200 w 2985120"/>
              <a:gd name="textAreaTop" fmla="*/ 0 h 2985120"/>
              <a:gd name="textAreaBottom" fmla="*/ 2986200 h 2985120"/>
            </a:gdLst>
            <a:ahLst/>
            <a:rect l="textAreaLeft" t="textAreaTop" r="textAreaRight" b="textAreaBottom"/>
            <a:pathLst>
              <a:path w="2986282" h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Freeform 30"/>
          <p:cNvSpPr/>
          <p:nvPr/>
        </p:nvSpPr>
        <p:spPr>
          <a:xfrm>
            <a:off x="11143440" y="5743800"/>
            <a:ext cx="639360" cy="1089720"/>
          </a:xfrm>
          <a:custGeom>
            <a:avLst/>
            <a:gdLst>
              <a:gd name="textAreaLeft" fmla="*/ 0 w 639360"/>
              <a:gd name="textAreaRight" fmla="*/ 640440 w 639360"/>
              <a:gd name="textAreaTop" fmla="*/ 0 h 1089720"/>
              <a:gd name="textAreaBottom" fmla="*/ 1090800 h 1089720"/>
            </a:gdLst>
            <a:ahLst/>
            <a:rect l="textAreaLeft" t="textAreaTop" r="textAreaRight" b="textAreaBottom"/>
            <a:pathLst>
              <a:path w="640554" h="1090726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Freeform 31"/>
          <p:cNvSpPr/>
          <p:nvPr/>
        </p:nvSpPr>
        <p:spPr>
          <a:xfrm>
            <a:off x="12736080" y="5870880"/>
            <a:ext cx="1540440" cy="1956960"/>
          </a:xfrm>
          <a:custGeom>
            <a:avLst/>
            <a:gdLst>
              <a:gd name="textAreaLeft" fmla="*/ 0 w 1540440"/>
              <a:gd name="textAreaRight" fmla="*/ 1541520 w 1540440"/>
              <a:gd name="textAreaTop" fmla="*/ 0 h 1956960"/>
              <a:gd name="textAreaBottom" fmla="*/ 1958040 h 1956960"/>
            </a:gdLst>
            <a:ahLst/>
            <a:rect l="textAreaLeft" t="textAreaTop" r="textAreaRight" b="textAreaBottom"/>
            <a:pathLst>
              <a:path w="1541540" h="1958076">
                <a:moveTo>
                  <a:pt x="0" y="0"/>
                </a:moveTo>
                <a:lnTo>
                  <a:pt x="1541540" y="0"/>
                </a:lnTo>
                <a:lnTo>
                  <a:pt x="1541540" y="1958076"/>
                </a:lnTo>
                <a:lnTo>
                  <a:pt x="0" y="19580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32"/>
          <p:cNvSpPr/>
          <p:nvPr/>
        </p:nvSpPr>
        <p:spPr>
          <a:xfrm>
            <a:off x="3778560" y="4426920"/>
            <a:ext cx="526212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07"/>
              </a:lnSpc>
            </a:pPr>
            <a:r>
              <a:rPr b="1" lang="en-US" sz="6130" spc="-20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VARIÁVEIS</a:t>
            </a:r>
            <a:endParaRPr b="0" lang="pt-BR" sz="6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33"/>
          <p:cNvSpPr/>
          <p:nvPr/>
        </p:nvSpPr>
        <p:spPr>
          <a:xfrm>
            <a:off x="3511080" y="6765120"/>
            <a:ext cx="7401240" cy="15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Espaços na memória usados para armazenar dados.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👉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Podem guardar valores como números, textos ou resultados.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Box 34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35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36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37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304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5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06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307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09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2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313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15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316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18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319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21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3" name="Group 22"/>
          <p:cNvGrpSpPr/>
          <p:nvPr/>
        </p:nvGrpSpPr>
        <p:grpSpPr>
          <a:xfrm>
            <a:off x="5538600" y="9048960"/>
            <a:ext cx="1270440" cy="796680"/>
            <a:chOff x="5538600" y="9048960"/>
            <a:chExt cx="1270440" cy="796680"/>
          </a:xfrm>
        </p:grpSpPr>
        <p:sp>
          <p:nvSpPr>
            <p:cNvPr id="324" name="Freeform 23"/>
            <p:cNvSpPr/>
            <p:nvPr/>
          </p:nvSpPr>
          <p:spPr>
            <a:xfrm>
              <a:off x="553860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5" name="TextBox 24"/>
            <p:cNvSpPr/>
            <p:nvPr/>
          </p:nvSpPr>
          <p:spPr>
            <a:xfrm>
              <a:off x="553860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26" name="Freeform 25"/>
          <p:cNvSpPr/>
          <p:nvPr/>
        </p:nvSpPr>
        <p:spPr>
          <a:xfrm>
            <a:off x="3968640" y="2908800"/>
            <a:ext cx="10350000" cy="5474880"/>
          </a:xfrm>
          <a:custGeom>
            <a:avLst/>
            <a:gdLst>
              <a:gd name="textAreaLeft" fmla="*/ 0 w 10350000"/>
              <a:gd name="textAreaRight" fmla="*/ 10351080 w 10350000"/>
              <a:gd name="textAreaTop" fmla="*/ 0 h 5474880"/>
              <a:gd name="textAreaBottom" fmla="*/ 5475960 h 5474880"/>
            </a:gdLst>
            <a:ahLst/>
            <a:rect l="textAreaLeft" t="textAreaTop" r="textAreaRight" b="textAreaBottom"/>
            <a:pathLst>
              <a:path w="10350922" h="5476065">
                <a:moveTo>
                  <a:pt x="0" y="0"/>
                </a:moveTo>
                <a:lnTo>
                  <a:pt x="10350922" y="0"/>
                </a:lnTo>
                <a:lnTo>
                  <a:pt x="10350922" y="5476065"/>
                </a:lnTo>
                <a:lnTo>
                  <a:pt x="0" y="54760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26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27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Box 28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29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332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3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34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335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37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0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341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2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43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344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5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46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347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49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1" name="Group 22"/>
          <p:cNvGrpSpPr/>
          <p:nvPr/>
        </p:nvGrpSpPr>
        <p:grpSpPr>
          <a:xfrm>
            <a:off x="5538600" y="9048960"/>
            <a:ext cx="1270440" cy="796680"/>
            <a:chOff x="5538600" y="9048960"/>
            <a:chExt cx="1270440" cy="796680"/>
          </a:xfrm>
        </p:grpSpPr>
        <p:sp>
          <p:nvSpPr>
            <p:cNvPr id="352" name="Freeform 23"/>
            <p:cNvSpPr/>
            <p:nvPr/>
          </p:nvSpPr>
          <p:spPr>
            <a:xfrm>
              <a:off x="553860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3" name="TextBox 24"/>
            <p:cNvSpPr/>
            <p:nvPr/>
          </p:nvSpPr>
          <p:spPr>
            <a:xfrm>
              <a:off x="553860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54" name="TextBox 25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26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27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28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Freeform 29"/>
          <p:cNvSpPr/>
          <p:nvPr/>
        </p:nvSpPr>
        <p:spPr>
          <a:xfrm>
            <a:off x="3968640" y="2908800"/>
            <a:ext cx="10350000" cy="5474880"/>
          </a:xfrm>
          <a:custGeom>
            <a:avLst/>
            <a:gdLst>
              <a:gd name="textAreaLeft" fmla="*/ 0 w 10350000"/>
              <a:gd name="textAreaRight" fmla="*/ 10351080 w 10350000"/>
              <a:gd name="textAreaTop" fmla="*/ 0 h 5474880"/>
              <a:gd name="textAreaBottom" fmla="*/ 5475960 h 5474880"/>
            </a:gdLst>
            <a:ahLst/>
            <a:rect l="textAreaLeft" t="textAreaTop" r="textAreaRight" b="textAreaBottom"/>
            <a:pathLst>
              <a:path w="10350922" h="5476065">
                <a:moveTo>
                  <a:pt x="0" y="0"/>
                </a:moveTo>
                <a:lnTo>
                  <a:pt x="10350922" y="0"/>
                </a:lnTo>
                <a:lnTo>
                  <a:pt x="10350922" y="5476065"/>
                </a:lnTo>
                <a:lnTo>
                  <a:pt x="0" y="54760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360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1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62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363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65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8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369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0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71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372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74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375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77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Freeform 22"/>
          <p:cNvSpPr/>
          <p:nvPr/>
        </p:nvSpPr>
        <p:spPr>
          <a:xfrm>
            <a:off x="9703440" y="3343320"/>
            <a:ext cx="5797440" cy="3087720"/>
          </a:xfrm>
          <a:custGeom>
            <a:avLst/>
            <a:gdLst>
              <a:gd name="textAreaLeft" fmla="*/ 0 w 5797440"/>
              <a:gd name="textAreaRight" fmla="*/ 5798520 w 5797440"/>
              <a:gd name="textAreaTop" fmla="*/ 0 h 3087720"/>
              <a:gd name="textAreaBottom" fmla="*/ 3088800 h 3087720"/>
            </a:gdLst>
            <a:ahLst/>
            <a:rect l="textAreaLeft" t="textAreaTop" r="textAreaRight" b="textAreaBottom"/>
            <a:pathLst>
              <a:path w="5798369" h="3088949">
                <a:moveTo>
                  <a:pt x="0" y="0"/>
                </a:moveTo>
                <a:lnTo>
                  <a:pt x="5798370" y="0"/>
                </a:lnTo>
                <a:lnTo>
                  <a:pt x="5798370" y="3088949"/>
                </a:lnTo>
                <a:lnTo>
                  <a:pt x="0" y="30889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0" name="Group 23"/>
          <p:cNvGrpSpPr/>
          <p:nvPr/>
        </p:nvGrpSpPr>
        <p:grpSpPr>
          <a:xfrm>
            <a:off x="6661800" y="9048960"/>
            <a:ext cx="1270440" cy="796680"/>
            <a:chOff x="6661800" y="9048960"/>
            <a:chExt cx="1270440" cy="796680"/>
          </a:xfrm>
        </p:grpSpPr>
        <p:sp>
          <p:nvSpPr>
            <p:cNvPr id="381" name="Freeform 24"/>
            <p:cNvSpPr/>
            <p:nvPr/>
          </p:nvSpPr>
          <p:spPr>
            <a:xfrm>
              <a:off x="666180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2" name="TextBox 25"/>
            <p:cNvSpPr/>
            <p:nvPr/>
          </p:nvSpPr>
          <p:spPr>
            <a:xfrm>
              <a:off x="666180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83" name="Freeform 26"/>
          <p:cNvSpPr/>
          <p:nvPr/>
        </p:nvSpPr>
        <p:spPr>
          <a:xfrm>
            <a:off x="2900520" y="5099400"/>
            <a:ext cx="2985120" cy="2985120"/>
          </a:xfrm>
          <a:custGeom>
            <a:avLst/>
            <a:gdLst>
              <a:gd name="textAreaLeft" fmla="*/ 0 w 2985120"/>
              <a:gd name="textAreaRight" fmla="*/ 2986200 w 2985120"/>
              <a:gd name="textAreaTop" fmla="*/ 0 h 2985120"/>
              <a:gd name="textAreaBottom" fmla="*/ 2986200 h 2985120"/>
            </a:gdLst>
            <a:ahLst/>
            <a:rect l="textAreaLeft" t="textAreaTop" r="textAreaRight" b="textAreaBottom"/>
            <a:pathLst>
              <a:path w="2986282" h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Freeform 27"/>
          <p:cNvSpPr/>
          <p:nvPr/>
        </p:nvSpPr>
        <p:spPr>
          <a:xfrm>
            <a:off x="9193680" y="3265200"/>
            <a:ext cx="1018440" cy="988920"/>
          </a:xfrm>
          <a:custGeom>
            <a:avLst/>
            <a:gdLst>
              <a:gd name="textAreaLeft" fmla="*/ 0 w 1018440"/>
              <a:gd name="textAreaRight" fmla="*/ 1019520 w 1018440"/>
              <a:gd name="textAreaTop" fmla="*/ 0 h 988920"/>
              <a:gd name="textAreaBottom" fmla="*/ 990000 h 988920"/>
            </a:gdLst>
            <a:ahLst/>
            <a:rect l="textAreaLeft" t="textAreaTop" r="textAreaRight" b="textAreaBottom"/>
            <a:pathLst>
              <a:path w="1019520" h="989861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Freeform 28"/>
          <p:cNvSpPr/>
          <p:nvPr/>
        </p:nvSpPr>
        <p:spPr>
          <a:xfrm>
            <a:off x="5281200" y="3343320"/>
            <a:ext cx="2985120" cy="2985120"/>
          </a:xfrm>
          <a:custGeom>
            <a:avLst/>
            <a:gdLst>
              <a:gd name="textAreaLeft" fmla="*/ 0 w 2985120"/>
              <a:gd name="textAreaRight" fmla="*/ 2986200 w 2985120"/>
              <a:gd name="textAreaTop" fmla="*/ 0 h 2985120"/>
              <a:gd name="textAreaBottom" fmla="*/ 2986200 h 2985120"/>
            </a:gdLst>
            <a:ahLst/>
            <a:rect l="textAreaLeft" t="textAreaTop" r="textAreaRight" b="textAreaBottom"/>
            <a:pathLst>
              <a:path w="2986282" h="2986282">
                <a:moveTo>
                  <a:pt x="0" y="0"/>
                </a:moveTo>
                <a:lnTo>
                  <a:pt x="2986281" y="0"/>
                </a:lnTo>
                <a:lnTo>
                  <a:pt x="2986281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Freeform 29"/>
          <p:cNvSpPr/>
          <p:nvPr/>
        </p:nvSpPr>
        <p:spPr>
          <a:xfrm>
            <a:off x="6133680" y="6015240"/>
            <a:ext cx="639360" cy="1089720"/>
          </a:xfrm>
          <a:custGeom>
            <a:avLst/>
            <a:gdLst>
              <a:gd name="textAreaLeft" fmla="*/ 0 w 639360"/>
              <a:gd name="textAreaRight" fmla="*/ 640440 w 639360"/>
              <a:gd name="textAreaTop" fmla="*/ 0 h 1089720"/>
              <a:gd name="textAreaBottom" fmla="*/ 1090800 h 1089720"/>
            </a:gdLst>
            <a:ahLst/>
            <a:rect l="textAreaLeft" t="textAreaTop" r="textAreaRight" b="textAreaBottom"/>
            <a:pathLst>
              <a:path w="640554" h="1090726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Freeform 30"/>
          <p:cNvSpPr/>
          <p:nvPr/>
        </p:nvSpPr>
        <p:spPr>
          <a:xfrm>
            <a:off x="6041160" y="4275360"/>
            <a:ext cx="1464840" cy="1121040"/>
          </a:xfrm>
          <a:custGeom>
            <a:avLst/>
            <a:gdLst>
              <a:gd name="textAreaLeft" fmla="*/ 0 w 1464840"/>
              <a:gd name="textAreaRight" fmla="*/ 1465920 w 1464840"/>
              <a:gd name="textAreaTop" fmla="*/ 0 h 1121040"/>
              <a:gd name="textAreaBottom" fmla="*/ 1122120 h 1121040"/>
            </a:gdLst>
            <a:ahLst/>
            <a:rect l="textAreaLeft" t="textAreaTop" r="textAreaRight" b="textAreaBottom"/>
            <a:pathLst>
              <a:path w="1465987" h="1122147">
                <a:moveTo>
                  <a:pt x="0" y="0"/>
                </a:moveTo>
                <a:lnTo>
                  <a:pt x="1465987" y="0"/>
                </a:lnTo>
                <a:lnTo>
                  <a:pt x="1465987" y="1122146"/>
                </a:lnTo>
                <a:lnTo>
                  <a:pt x="0" y="11221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Freeform 31"/>
          <p:cNvSpPr/>
          <p:nvPr/>
        </p:nvSpPr>
        <p:spPr>
          <a:xfrm>
            <a:off x="3654720" y="5906880"/>
            <a:ext cx="1476360" cy="1555560"/>
          </a:xfrm>
          <a:custGeom>
            <a:avLst/>
            <a:gdLst>
              <a:gd name="textAreaLeft" fmla="*/ 0 w 1476360"/>
              <a:gd name="textAreaRight" fmla="*/ 1477440 w 1476360"/>
              <a:gd name="textAreaTop" fmla="*/ 0 h 1555560"/>
              <a:gd name="textAreaBottom" fmla="*/ 1556640 h 1555560"/>
            </a:gdLst>
            <a:ahLst/>
            <a:rect l="textAreaLeft" t="textAreaTop" r="textAreaRight" b="textAreaBottom"/>
            <a:pathLst>
              <a:path w="1477427" h="1556676">
                <a:moveTo>
                  <a:pt x="0" y="0"/>
                </a:moveTo>
                <a:lnTo>
                  <a:pt x="1477427" y="0"/>
                </a:lnTo>
                <a:lnTo>
                  <a:pt x="1477427" y="1556677"/>
                </a:lnTo>
                <a:lnTo>
                  <a:pt x="0" y="15566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32"/>
          <p:cNvSpPr/>
          <p:nvPr/>
        </p:nvSpPr>
        <p:spPr>
          <a:xfrm>
            <a:off x="9970920" y="4239360"/>
            <a:ext cx="5262120" cy="13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07"/>
              </a:lnSpc>
            </a:pPr>
            <a:r>
              <a:rPr b="1" lang="en-US" sz="6130" spc="-20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TIPOS DE DADOS</a:t>
            </a:r>
            <a:endParaRPr b="0" lang="pt-BR" sz="6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33"/>
          <p:cNvSpPr/>
          <p:nvPr/>
        </p:nvSpPr>
        <p:spPr>
          <a:xfrm>
            <a:off x="7507080" y="6666120"/>
            <a:ext cx="7993440" cy="25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Define a natureza da informação que a variável vai guardar.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👉 </a:t>
            </a:r>
            <a:r>
              <a:rPr b="1" lang="en-US" sz="1990" spc="-1" strike="noStrike">
                <a:solidFill>
                  <a:srgbClr val="000000"/>
                </a:solidFill>
                <a:latin typeface="Cousine Bold"/>
                <a:ea typeface="Cousine Bold"/>
              </a:rPr>
              <a:t>Inteiro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: Números sem vírgula.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👉 </a:t>
            </a:r>
            <a:r>
              <a:rPr b="1" lang="en-US" sz="1990" spc="-1" strike="noStrike">
                <a:solidFill>
                  <a:srgbClr val="000000"/>
                </a:solidFill>
                <a:latin typeface="Cousine Bold"/>
                <a:ea typeface="Cousine Bold"/>
              </a:rPr>
              <a:t>Real/Float: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 Números com vírgula.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👉 </a:t>
            </a:r>
            <a:r>
              <a:rPr b="1" lang="en-US" sz="1990" spc="-1" strike="noStrike">
                <a:solidFill>
                  <a:srgbClr val="000000"/>
                </a:solidFill>
                <a:latin typeface="Cousine Bold"/>
                <a:ea typeface="Cousine Bold"/>
              </a:rPr>
              <a:t>String: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 Textos e caracteres.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👉 </a:t>
            </a:r>
            <a:r>
              <a:rPr b="1" lang="en-US" sz="1990" spc="-1" strike="noStrike">
                <a:solidFill>
                  <a:srgbClr val="000000"/>
                </a:solidFill>
                <a:latin typeface="Cousine Bold"/>
                <a:ea typeface="Cousine Bold"/>
              </a:rPr>
              <a:t>Booleano: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 Verdadeiro ou Falso.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Box 34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Box 35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36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37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396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7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98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399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01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4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405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6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07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408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9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10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411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2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13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5" name="Group 22"/>
          <p:cNvGrpSpPr/>
          <p:nvPr/>
        </p:nvGrpSpPr>
        <p:grpSpPr>
          <a:xfrm>
            <a:off x="7507080" y="9048960"/>
            <a:ext cx="1270440" cy="796680"/>
            <a:chOff x="7507080" y="9048960"/>
            <a:chExt cx="1270440" cy="796680"/>
          </a:xfrm>
        </p:grpSpPr>
        <p:sp>
          <p:nvSpPr>
            <p:cNvPr id="416" name="Freeform 23"/>
            <p:cNvSpPr/>
            <p:nvPr/>
          </p:nvSpPr>
          <p:spPr>
            <a:xfrm>
              <a:off x="750708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7" name="TextBox 24"/>
            <p:cNvSpPr/>
            <p:nvPr/>
          </p:nvSpPr>
          <p:spPr>
            <a:xfrm>
              <a:off x="750708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18" name="Freeform 25"/>
          <p:cNvSpPr/>
          <p:nvPr/>
        </p:nvSpPr>
        <p:spPr>
          <a:xfrm>
            <a:off x="14466600" y="7639560"/>
            <a:ext cx="639360" cy="1089720"/>
          </a:xfrm>
          <a:custGeom>
            <a:avLst/>
            <a:gdLst>
              <a:gd name="textAreaLeft" fmla="*/ 0 w 639360"/>
              <a:gd name="textAreaRight" fmla="*/ 640440 w 639360"/>
              <a:gd name="textAreaTop" fmla="*/ 0 h 1089720"/>
              <a:gd name="textAreaBottom" fmla="*/ 1090800 h 1089720"/>
            </a:gdLst>
            <a:ahLst/>
            <a:rect l="textAreaLeft" t="textAreaTop" r="textAreaRight" b="textAreaBottom"/>
            <a:pathLst>
              <a:path w="640554" h="1090726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Freeform 26"/>
          <p:cNvSpPr/>
          <p:nvPr/>
        </p:nvSpPr>
        <p:spPr>
          <a:xfrm>
            <a:off x="5486400" y="3560760"/>
            <a:ext cx="7314120" cy="1581840"/>
          </a:xfrm>
          <a:custGeom>
            <a:avLst/>
            <a:gdLst>
              <a:gd name="textAreaLeft" fmla="*/ 0 w 7314120"/>
              <a:gd name="textAreaRight" fmla="*/ 7315200 w 7314120"/>
              <a:gd name="textAreaTop" fmla="*/ 0 h 1581840"/>
              <a:gd name="textAreaBottom" fmla="*/ 1582920 h 1581840"/>
            </a:gdLst>
            <a:ahLst/>
            <a:rect l="textAreaLeft" t="textAreaTop" r="textAreaRight" b="textAreaBottom"/>
            <a:pathLst>
              <a:path w="7315200" h="1582743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27"/>
          <p:cNvSpPr/>
          <p:nvPr/>
        </p:nvSpPr>
        <p:spPr>
          <a:xfrm>
            <a:off x="5668920" y="3780000"/>
            <a:ext cx="694872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572"/>
              </a:lnSpc>
            </a:pPr>
            <a:r>
              <a:rPr b="1" lang="en-US" sz="5380" spc="-182" strike="noStrike">
                <a:solidFill>
                  <a:srgbClr val="000000"/>
                </a:solidFill>
                <a:latin typeface="Anonymous Pro Bold"/>
                <a:ea typeface="Anonymous Pro Bold"/>
              </a:rPr>
              <a:t>TIPOS DE OPERADORES</a:t>
            </a:r>
            <a:endParaRPr b="0" lang="pt-BR" sz="5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Freeform 28"/>
          <p:cNvSpPr/>
          <p:nvPr/>
        </p:nvSpPr>
        <p:spPr>
          <a:xfrm>
            <a:off x="4810320" y="3222720"/>
            <a:ext cx="1165680" cy="1131840"/>
          </a:xfrm>
          <a:custGeom>
            <a:avLst/>
            <a:gdLst>
              <a:gd name="textAreaLeft" fmla="*/ 0 w 1165680"/>
              <a:gd name="textAreaRight" fmla="*/ 1166760 w 1165680"/>
              <a:gd name="textAreaTop" fmla="*/ 0 h 1131840"/>
              <a:gd name="textAreaBottom" fmla="*/ 1132920 h 1131840"/>
            </a:gdLst>
            <a:ahLst/>
            <a:rect l="textAreaLeft" t="textAreaTop" r="textAreaRight" b="textAreaBottom"/>
            <a:pathLst>
              <a:path w="1166694" h="1132754">
                <a:moveTo>
                  <a:pt x="0" y="0"/>
                </a:moveTo>
                <a:lnTo>
                  <a:pt x="1166694" y="0"/>
                </a:lnTo>
                <a:lnTo>
                  <a:pt x="1166694" y="1132753"/>
                </a:lnTo>
                <a:lnTo>
                  <a:pt x="0" y="11327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29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30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Box 31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Box 32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33"/>
          <p:cNvSpPr/>
          <p:nvPr/>
        </p:nvSpPr>
        <p:spPr>
          <a:xfrm>
            <a:off x="4321800" y="5747040"/>
            <a:ext cx="10464120" cy="31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Operadores: Ação no Código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Ferramentas para manipular dados e criar lógica.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➕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Aritméticos: Cálculos matemáticos (+, -, *, /, %).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⚖️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Relacionais: Comparações (&gt;, &lt;, ==, !=).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🧠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Lógicos: Combinam condições (E, OU, NÃO).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428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9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30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431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2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33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6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437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8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39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440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1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42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443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4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45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47" name="Group 22"/>
          <p:cNvGrpSpPr/>
          <p:nvPr/>
        </p:nvGrpSpPr>
        <p:grpSpPr>
          <a:xfrm>
            <a:off x="7507080" y="9048960"/>
            <a:ext cx="1270440" cy="796680"/>
            <a:chOff x="7507080" y="9048960"/>
            <a:chExt cx="1270440" cy="796680"/>
          </a:xfrm>
        </p:grpSpPr>
        <p:sp>
          <p:nvSpPr>
            <p:cNvPr id="448" name="Freeform 23"/>
            <p:cNvSpPr/>
            <p:nvPr/>
          </p:nvSpPr>
          <p:spPr>
            <a:xfrm>
              <a:off x="750708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9" name="TextBox 24"/>
            <p:cNvSpPr/>
            <p:nvPr/>
          </p:nvSpPr>
          <p:spPr>
            <a:xfrm>
              <a:off x="750708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50" name="Freeform 25"/>
          <p:cNvSpPr/>
          <p:nvPr/>
        </p:nvSpPr>
        <p:spPr>
          <a:xfrm>
            <a:off x="4636800" y="2832120"/>
            <a:ext cx="9012960" cy="5628600"/>
          </a:xfrm>
          <a:custGeom>
            <a:avLst/>
            <a:gdLst>
              <a:gd name="textAreaLeft" fmla="*/ 0 w 9012960"/>
              <a:gd name="textAreaRight" fmla="*/ 9014040 w 9012960"/>
              <a:gd name="textAreaTop" fmla="*/ 0 h 5628600"/>
              <a:gd name="textAreaBottom" fmla="*/ 5629680 h 5628600"/>
            </a:gdLst>
            <a:ahLst/>
            <a:rect l="textAreaLeft" t="textAreaTop" r="textAreaRight" b="textAreaBottom"/>
            <a:pathLst>
              <a:path w="9014110" h="5629738">
                <a:moveTo>
                  <a:pt x="0" y="0"/>
                </a:moveTo>
                <a:lnTo>
                  <a:pt x="9014110" y="0"/>
                </a:lnTo>
                <a:lnTo>
                  <a:pt x="9014110" y="5629738"/>
                </a:lnTo>
                <a:lnTo>
                  <a:pt x="0" y="56297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Box 26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Box 27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28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29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456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7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58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459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0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61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4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465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6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67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468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9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70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471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2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73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75" name="Group 22"/>
          <p:cNvGrpSpPr/>
          <p:nvPr/>
        </p:nvGrpSpPr>
        <p:grpSpPr>
          <a:xfrm>
            <a:off x="7507080" y="9048960"/>
            <a:ext cx="1270440" cy="796680"/>
            <a:chOff x="7507080" y="9048960"/>
            <a:chExt cx="1270440" cy="796680"/>
          </a:xfrm>
        </p:grpSpPr>
        <p:sp>
          <p:nvSpPr>
            <p:cNvPr id="476" name="Freeform 23"/>
            <p:cNvSpPr/>
            <p:nvPr/>
          </p:nvSpPr>
          <p:spPr>
            <a:xfrm>
              <a:off x="750708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extBox 24"/>
            <p:cNvSpPr/>
            <p:nvPr/>
          </p:nvSpPr>
          <p:spPr>
            <a:xfrm>
              <a:off x="750708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78" name="TextBox 25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26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27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Box 28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Freeform 29"/>
          <p:cNvSpPr/>
          <p:nvPr/>
        </p:nvSpPr>
        <p:spPr>
          <a:xfrm>
            <a:off x="4505760" y="2832120"/>
            <a:ext cx="9144360" cy="5355360"/>
          </a:xfrm>
          <a:custGeom>
            <a:avLst/>
            <a:gdLst>
              <a:gd name="textAreaLeft" fmla="*/ 0 w 9144360"/>
              <a:gd name="textAreaRight" fmla="*/ 9145440 w 9144360"/>
              <a:gd name="textAreaTop" fmla="*/ 0 h 5355360"/>
              <a:gd name="textAreaBottom" fmla="*/ 5356440 h 5355360"/>
            </a:gdLst>
            <a:ahLst/>
            <a:rect l="textAreaLeft" t="textAreaTop" r="textAreaRight" b="textAreaBottom"/>
            <a:pathLst>
              <a:path w="9145279" h="5356309">
                <a:moveTo>
                  <a:pt x="0" y="0"/>
                </a:moveTo>
                <a:lnTo>
                  <a:pt x="9145280" y="0"/>
                </a:lnTo>
                <a:lnTo>
                  <a:pt x="9145280" y="5356309"/>
                </a:lnTo>
                <a:lnTo>
                  <a:pt x="0" y="535630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484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5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86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487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8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89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2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493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4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95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496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7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98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499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0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01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3" name="Group 22"/>
          <p:cNvGrpSpPr/>
          <p:nvPr/>
        </p:nvGrpSpPr>
        <p:grpSpPr>
          <a:xfrm>
            <a:off x="9717840" y="9048960"/>
            <a:ext cx="1270440" cy="796680"/>
            <a:chOff x="9717840" y="9048960"/>
            <a:chExt cx="1270440" cy="796680"/>
          </a:xfrm>
        </p:grpSpPr>
        <p:sp>
          <p:nvSpPr>
            <p:cNvPr id="504" name="Freeform 23"/>
            <p:cNvSpPr/>
            <p:nvPr/>
          </p:nvSpPr>
          <p:spPr>
            <a:xfrm>
              <a:off x="97178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5" name="TextBox 24"/>
            <p:cNvSpPr/>
            <p:nvPr/>
          </p:nvSpPr>
          <p:spPr>
            <a:xfrm>
              <a:off x="97178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06" name="Freeform 25"/>
          <p:cNvSpPr/>
          <p:nvPr/>
        </p:nvSpPr>
        <p:spPr>
          <a:xfrm>
            <a:off x="6630480" y="3912120"/>
            <a:ext cx="5026320" cy="2676960"/>
          </a:xfrm>
          <a:custGeom>
            <a:avLst/>
            <a:gdLst>
              <a:gd name="textAreaLeft" fmla="*/ 0 w 5026320"/>
              <a:gd name="textAreaRight" fmla="*/ 5027400 w 5026320"/>
              <a:gd name="textAreaTop" fmla="*/ 0 h 2676960"/>
              <a:gd name="textAreaBottom" fmla="*/ 2678040 h 2676960"/>
            </a:gdLst>
            <a:ahLst/>
            <a:rect l="textAreaLeft" t="textAreaTop" r="textAreaRight" b="textAreaBottom"/>
            <a:pathLst>
              <a:path w="5027291" h="2678175">
                <a:moveTo>
                  <a:pt x="0" y="0"/>
                </a:moveTo>
                <a:lnTo>
                  <a:pt x="5027292" y="0"/>
                </a:lnTo>
                <a:lnTo>
                  <a:pt x="5027292" y="2678175"/>
                </a:lnTo>
                <a:lnTo>
                  <a:pt x="0" y="26781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Freeform 27"/>
          <p:cNvSpPr/>
          <p:nvPr/>
        </p:nvSpPr>
        <p:spPr>
          <a:xfrm>
            <a:off x="6136200" y="3627720"/>
            <a:ext cx="1018440" cy="988920"/>
          </a:xfrm>
          <a:custGeom>
            <a:avLst/>
            <a:gdLst>
              <a:gd name="textAreaLeft" fmla="*/ 0 w 1018440"/>
              <a:gd name="textAreaRight" fmla="*/ 1019520 w 1018440"/>
              <a:gd name="textAreaTop" fmla="*/ 0 h 988920"/>
              <a:gd name="textAreaBottom" fmla="*/ 990000 h 988920"/>
            </a:gdLst>
            <a:ahLst/>
            <a:rect l="textAreaLeft" t="textAreaTop" r="textAreaRight" b="textAreaBottom"/>
            <a:pathLst>
              <a:path w="1019520" h="989861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Freeform 28"/>
          <p:cNvSpPr/>
          <p:nvPr/>
        </p:nvSpPr>
        <p:spPr>
          <a:xfrm>
            <a:off x="6764040" y="6847560"/>
            <a:ext cx="4758840" cy="890280"/>
          </a:xfrm>
          <a:custGeom>
            <a:avLst/>
            <a:gdLst>
              <a:gd name="textAreaLeft" fmla="*/ 0 w 4758840"/>
              <a:gd name="textAreaRight" fmla="*/ 4759920 w 4758840"/>
              <a:gd name="textAreaTop" fmla="*/ 0 h 890280"/>
              <a:gd name="textAreaBottom" fmla="*/ 891360 h 890280"/>
            </a:gdLst>
            <a:ahLst/>
            <a:rect l="textAreaLeft" t="textAreaTop" r="textAreaRight" b="textAreaBottom"/>
            <a:pathLst>
              <a:path w="4759816" h="891384">
                <a:moveTo>
                  <a:pt x="0" y="0"/>
                </a:moveTo>
                <a:lnTo>
                  <a:pt x="4759816" y="0"/>
                </a:lnTo>
                <a:lnTo>
                  <a:pt x="4759816" y="891384"/>
                </a:lnTo>
                <a:lnTo>
                  <a:pt x="0" y="8913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29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Box 30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Box 31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Box 32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5"/>
          <p:cNvSpPr/>
          <p:nvPr/>
        </p:nvSpPr>
        <p:spPr>
          <a:xfrm>
            <a:off x="6611040" y="4973760"/>
            <a:ext cx="511884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572"/>
              </a:lnSpc>
            </a:pPr>
            <a:r>
              <a:rPr b="1" lang="en-US" sz="5380" spc="-182" strike="noStrike">
                <a:solidFill>
                  <a:srgbClr val="000000"/>
                </a:solidFill>
                <a:latin typeface="Anonymous Pro Bold"/>
                <a:ea typeface="Anonymous Pro Bold"/>
              </a:rPr>
              <a:t>CONDICIONAIS</a:t>
            </a:r>
            <a:endParaRPr b="0" lang="pt-BR" sz="53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515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6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17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518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9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20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3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524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5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26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527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8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29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530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1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32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4" name="Group 22"/>
          <p:cNvGrpSpPr/>
          <p:nvPr/>
        </p:nvGrpSpPr>
        <p:grpSpPr>
          <a:xfrm>
            <a:off x="9717840" y="9048960"/>
            <a:ext cx="1270440" cy="796680"/>
            <a:chOff x="9717840" y="9048960"/>
            <a:chExt cx="1270440" cy="796680"/>
          </a:xfrm>
        </p:grpSpPr>
        <p:sp>
          <p:nvSpPr>
            <p:cNvPr id="535" name="Freeform 23"/>
            <p:cNvSpPr/>
            <p:nvPr/>
          </p:nvSpPr>
          <p:spPr>
            <a:xfrm>
              <a:off x="97178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6" name="TextBox 24"/>
            <p:cNvSpPr/>
            <p:nvPr/>
          </p:nvSpPr>
          <p:spPr>
            <a:xfrm>
              <a:off x="97178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37" name="Freeform 25"/>
          <p:cNvSpPr/>
          <p:nvPr/>
        </p:nvSpPr>
        <p:spPr>
          <a:xfrm>
            <a:off x="6630480" y="3912120"/>
            <a:ext cx="5026320" cy="2676960"/>
          </a:xfrm>
          <a:custGeom>
            <a:avLst/>
            <a:gdLst>
              <a:gd name="textAreaLeft" fmla="*/ 0 w 5026320"/>
              <a:gd name="textAreaRight" fmla="*/ 5027400 w 5026320"/>
              <a:gd name="textAreaTop" fmla="*/ 0 h 2676960"/>
              <a:gd name="textAreaBottom" fmla="*/ 2678040 h 2676960"/>
            </a:gdLst>
            <a:ahLst/>
            <a:rect l="textAreaLeft" t="textAreaTop" r="textAreaRight" b="textAreaBottom"/>
            <a:pathLst>
              <a:path w="5027291" h="2678175">
                <a:moveTo>
                  <a:pt x="0" y="0"/>
                </a:moveTo>
                <a:lnTo>
                  <a:pt x="5027292" y="0"/>
                </a:lnTo>
                <a:lnTo>
                  <a:pt x="5027292" y="2678175"/>
                </a:lnTo>
                <a:lnTo>
                  <a:pt x="0" y="26781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Freeform 27"/>
          <p:cNvSpPr/>
          <p:nvPr/>
        </p:nvSpPr>
        <p:spPr>
          <a:xfrm>
            <a:off x="6136200" y="3627720"/>
            <a:ext cx="1018440" cy="988920"/>
          </a:xfrm>
          <a:custGeom>
            <a:avLst/>
            <a:gdLst>
              <a:gd name="textAreaLeft" fmla="*/ 0 w 1018440"/>
              <a:gd name="textAreaRight" fmla="*/ 1019520 w 1018440"/>
              <a:gd name="textAreaTop" fmla="*/ 0 h 988920"/>
              <a:gd name="textAreaBottom" fmla="*/ 990000 h 988920"/>
            </a:gdLst>
            <a:ahLst/>
            <a:rect l="textAreaLeft" t="textAreaTop" r="textAreaRight" b="textAreaBottom"/>
            <a:pathLst>
              <a:path w="1019520" h="989861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Freeform 28"/>
          <p:cNvSpPr/>
          <p:nvPr/>
        </p:nvSpPr>
        <p:spPr>
          <a:xfrm>
            <a:off x="6764040" y="6847560"/>
            <a:ext cx="4758840" cy="890280"/>
          </a:xfrm>
          <a:custGeom>
            <a:avLst/>
            <a:gdLst>
              <a:gd name="textAreaLeft" fmla="*/ 0 w 4758840"/>
              <a:gd name="textAreaRight" fmla="*/ 4759920 w 4758840"/>
              <a:gd name="textAreaTop" fmla="*/ 0 h 890280"/>
              <a:gd name="textAreaBottom" fmla="*/ 891360 h 890280"/>
            </a:gdLst>
            <a:ahLst/>
            <a:rect l="textAreaLeft" t="textAreaTop" r="textAreaRight" b="textAreaBottom"/>
            <a:pathLst>
              <a:path w="4759816" h="891384">
                <a:moveTo>
                  <a:pt x="0" y="0"/>
                </a:moveTo>
                <a:lnTo>
                  <a:pt x="4759816" y="0"/>
                </a:lnTo>
                <a:lnTo>
                  <a:pt x="4759816" y="891384"/>
                </a:lnTo>
                <a:lnTo>
                  <a:pt x="0" y="8913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Box 29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Box 30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Box 31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Box 32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Box 33"/>
          <p:cNvSpPr/>
          <p:nvPr/>
        </p:nvSpPr>
        <p:spPr>
          <a:xfrm>
            <a:off x="1164240" y="5055480"/>
            <a:ext cx="534852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🛣️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Se (if): Faz algo se a condição for real.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Box 3"/>
          <p:cNvSpPr/>
          <p:nvPr/>
        </p:nvSpPr>
        <p:spPr>
          <a:xfrm>
            <a:off x="6611040" y="4973760"/>
            <a:ext cx="511884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572"/>
              </a:lnSpc>
            </a:pPr>
            <a:r>
              <a:rPr b="1" lang="en-US" sz="5380" spc="-182" strike="noStrike">
                <a:solidFill>
                  <a:srgbClr val="000000"/>
                </a:solidFill>
                <a:latin typeface="Anonymous Pro Bold"/>
                <a:ea typeface="Anonymous Pro Bold"/>
              </a:rPr>
              <a:t>CONDICIONAIS</a:t>
            </a:r>
            <a:endParaRPr b="0" lang="pt-BR" sz="53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547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8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49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550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1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52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5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556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58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559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0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61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562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3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64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66" name="Group 22"/>
          <p:cNvGrpSpPr/>
          <p:nvPr/>
        </p:nvGrpSpPr>
        <p:grpSpPr>
          <a:xfrm>
            <a:off x="9717840" y="9048960"/>
            <a:ext cx="1270440" cy="796680"/>
            <a:chOff x="9717840" y="9048960"/>
            <a:chExt cx="1270440" cy="796680"/>
          </a:xfrm>
        </p:grpSpPr>
        <p:sp>
          <p:nvSpPr>
            <p:cNvPr id="567" name="Freeform 23"/>
            <p:cNvSpPr/>
            <p:nvPr/>
          </p:nvSpPr>
          <p:spPr>
            <a:xfrm>
              <a:off x="97178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8" name="TextBox 24"/>
            <p:cNvSpPr/>
            <p:nvPr/>
          </p:nvSpPr>
          <p:spPr>
            <a:xfrm>
              <a:off x="97178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69" name="Freeform 25"/>
          <p:cNvSpPr/>
          <p:nvPr/>
        </p:nvSpPr>
        <p:spPr>
          <a:xfrm>
            <a:off x="6630480" y="3912120"/>
            <a:ext cx="5026320" cy="2676960"/>
          </a:xfrm>
          <a:custGeom>
            <a:avLst/>
            <a:gdLst>
              <a:gd name="textAreaLeft" fmla="*/ 0 w 5026320"/>
              <a:gd name="textAreaRight" fmla="*/ 5027400 w 5026320"/>
              <a:gd name="textAreaTop" fmla="*/ 0 h 2676960"/>
              <a:gd name="textAreaBottom" fmla="*/ 2678040 h 2676960"/>
            </a:gdLst>
            <a:ahLst/>
            <a:rect l="textAreaLeft" t="textAreaTop" r="textAreaRight" b="textAreaBottom"/>
            <a:pathLst>
              <a:path w="5027291" h="2678175">
                <a:moveTo>
                  <a:pt x="0" y="0"/>
                </a:moveTo>
                <a:lnTo>
                  <a:pt x="5027292" y="0"/>
                </a:lnTo>
                <a:lnTo>
                  <a:pt x="5027292" y="2678175"/>
                </a:lnTo>
                <a:lnTo>
                  <a:pt x="0" y="26781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Freeform 27"/>
          <p:cNvSpPr/>
          <p:nvPr/>
        </p:nvSpPr>
        <p:spPr>
          <a:xfrm>
            <a:off x="6136200" y="3627720"/>
            <a:ext cx="1018440" cy="988920"/>
          </a:xfrm>
          <a:custGeom>
            <a:avLst/>
            <a:gdLst>
              <a:gd name="textAreaLeft" fmla="*/ 0 w 1018440"/>
              <a:gd name="textAreaRight" fmla="*/ 1019520 w 1018440"/>
              <a:gd name="textAreaTop" fmla="*/ 0 h 988920"/>
              <a:gd name="textAreaBottom" fmla="*/ 990000 h 988920"/>
            </a:gdLst>
            <a:ahLst/>
            <a:rect l="textAreaLeft" t="textAreaTop" r="textAreaRight" b="textAreaBottom"/>
            <a:pathLst>
              <a:path w="1019520" h="989861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Freeform 28"/>
          <p:cNvSpPr/>
          <p:nvPr/>
        </p:nvSpPr>
        <p:spPr>
          <a:xfrm>
            <a:off x="6764040" y="6847560"/>
            <a:ext cx="4758840" cy="890280"/>
          </a:xfrm>
          <a:custGeom>
            <a:avLst/>
            <a:gdLst>
              <a:gd name="textAreaLeft" fmla="*/ 0 w 4758840"/>
              <a:gd name="textAreaRight" fmla="*/ 4759920 w 4758840"/>
              <a:gd name="textAreaTop" fmla="*/ 0 h 890280"/>
              <a:gd name="textAreaBottom" fmla="*/ 891360 h 890280"/>
            </a:gdLst>
            <a:ahLst/>
            <a:rect l="textAreaLeft" t="textAreaTop" r="textAreaRight" b="textAreaBottom"/>
            <a:pathLst>
              <a:path w="4759816" h="891384">
                <a:moveTo>
                  <a:pt x="0" y="0"/>
                </a:moveTo>
                <a:lnTo>
                  <a:pt x="4759816" y="0"/>
                </a:lnTo>
                <a:lnTo>
                  <a:pt x="4759816" y="891384"/>
                </a:lnTo>
                <a:lnTo>
                  <a:pt x="0" y="8913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Box 29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Box 30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Box 31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Box 32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Box 33"/>
          <p:cNvSpPr/>
          <p:nvPr/>
        </p:nvSpPr>
        <p:spPr>
          <a:xfrm>
            <a:off x="1164240" y="5055480"/>
            <a:ext cx="5348520" cy="9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🛣️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Se (if): Faz algo se a condição for real.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Box 34"/>
          <p:cNvSpPr/>
          <p:nvPr/>
        </p:nvSpPr>
        <p:spPr>
          <a:xfrm>
            <a:off x="12193200" y="5055480"/>
            <a:ext cx="534852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🔄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Senão (else): Faz outra coisa se não for.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8" name="" descr=""/>
          <p:cNvPicPr/>
          <p:nvPr/>
        </p:nvPicPr>
        <p:blipFill>
          <a:blip r:embed="rId17"/>
          <a:stretch/>
        </p:blipFill>
        <p:spPr>
          <a:xfrm>
            <a:off x="6630480" y="4951800"/>
            <a:ext cx="5266800" cy="62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580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1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82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583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4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85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88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589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0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91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592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3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94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595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6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97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9" name="Group 22"/>
          <p:cNvGrpSpPr/>
          <p:nvPr/>
        </p:nvGrpSpPr>
        <p:grpSpPr>
          <a:xfrm>
            <a:off x="8508240" y="9048960"/>
            <a:ext cx="1270440" cy="796680"/>
            <a:chOff x="8508240" y="9048960"/>
            <a:chExt cx="1270440" cy="796680"/>
          </a:xfrm>
        </p:grpSpPr>
        <p:sp>
          <p:nvSpPr>
            <p:cNvPr id="600" name="Freeform 23"/>
            <p:cNvSpPr/>
            <p:nvPr/>
          </p:nvSpPr>
          <p:spPr>
            <a:xfrm>
              <a:off x="85082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1" name="TextBox 24"/>
            <p:cNvSpPr/>
            <p:nvPr/>
          </p:nvSpPr>
          <p:spPr>
            <a:xfrm>
              <a:off x="85082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02" name="Freeform 25"/>
          <p:cNvSpPr/>
          <p:nvPr/>
        </p:nvSpPr>
        <p:spPr>
          <a:xfrm>
            <a:off x="4505760" y="2557440"/>
            <a:ext cx="9097920" cy="6528240"/>
          </a:xfrm>
          <a:custGeom>
            <a:avLst/>
            <a:gdLst>
              <a:gd name="textAreaLeft" fmla="*/ 0 w 9097920"/>
              <a:gd name="textAreaRight" fmla="*/ 9099000 w 9097920"/>
              <a:gd name="textAreaTop" fmla="*/ 0 h 6528240"/>
              <a:gd name="textAreaBottom" fmla="*/ 6529320 h 6528240"/>
            </a:gdLst>
            <a:ahLst/>
            <a:rect l="textAreaLeft" t="textAreaTop" r="textAreaRight" b="textAreaBottom"/>
            <a:pathLst>
              <a:path w="9098830" h="6529400">
                <a:moveTo>
                  <a:pt x="0" y="0"/>
                </a:moveTo>
                <a:lnTo>
                  <a:pt x="9098830" y="0"/>
                </a:lnTo>
                <a:lnTo>
                  <a:pt x="9098830" y="6529400"/>
                </a:lnTo>
                <a:lnTo>
                  <a:pt x="0" y="65294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Box 26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Box 27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Box 28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Box 29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7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608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9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10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611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2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13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6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617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8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19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620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1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22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623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4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25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27" name="Group 22"/>
          <p:cNvGrpSpPr/>
          <p:nvPr/>
        </p:nvGrpSpPr>
        <p:grpSpPr>
          <a:xfrm>
            <a:off x="8508240" y="9048960"/>
            <a:ext cx="1270440" cy="796680"/>
            <a:chOff x="8508240" y="9048960"/>
            <a:chExt cx="1270440" cy="796680"/>
          </a:xfrm>
        </p:grpSpPr>
        <p:sp>
          <p:nvSpPr>
            <p:cNvPr id="628" name="Freeform 23"/>
            <p:cNvSpPr/>
            <p:nvPr/>
          </p:nvSpPr>
          <p:spPr>
            <a:xfrm>
              <a:off x="85082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9" name="TextBox 24"/>
            <p:cNvSpPr/>
            <p:nvPr/>
          </p:nvSpPr>
          <p:spPr>
            <a:xfrm>
              <a:off x="85082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30" name="Freeform 25"/>
          <p:cNvSpPr/>
          <p:nvPr/>
        </p:nvSpPr>
        <p:spPr>
          <a:xfrm>
            <a:off x="12984480" y="3815640"/>
            <a:ext cx="2639880" cy="4113720"/>
          </a:xfrm>
          <a:custGeom>
            <a:avLst/>
            <a:gdLst>
              <a:gd name="textAreaLeft" fmla="*/ 0 w 2639880"/>
              <a:gd name="textAreaRight" fmla="*/ 2640960 w 2639880"/>
              <a:gd name="textAreaTop" fmla="*/ 0 h 4113720"/>
              <a:gd name="textAreaBottom" fmla="*/ 4114800 h 4113720"/>
            </a:gdLst>
            <a:ahLst/>
            <a:rect l="textAreaLeft" t="textAreaTop" r="textAreaRight" b="textAreaBottom"/>
            <a:pathLst>
              <a:path w="2640953" h="4114800">
                <a:moveTo>
                  <a:pt x="0" y="0"/>
                </a:moveTo>
                <a:lnTo>
                  <a:pt x="2640953" y="0"/>
                </a:lnTo>
                <a:lnTo>
                  <a:pt x="26409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Box 26"/>
          <p:cNvSpPr/>
          <p:nvPr/>
        </p:nvSpPr>
        <p:spPr>
          <a:xfrm>
            <a:off x="1480320" y="4381200"/>
            <a:ext cx="11503080" cy="29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01840" indent="-250920" defTabSz="914400">
              <a:lnSpc>
                <a:spcPts val="2906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320" spc="-1" strike="noStrike">
                <a:solidFill>
                  <a:srgbClr val="000000"/>
                </a:solidFill>
                <a:latin typeface="Courier New"/>
                <a:ea typeface="Courier New"/>
              </a:rPr>
              <a:t>Uma forma compacta de escrever um "Se/Senão" em uma única linha.</a:t>
            </a:r>
            <a:endParaRPr b="0" lang="pt-BR" sz="232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90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906"/>
              </a:lnSpc>
            </a:pPr>
            <a:r>
              <a:rPr b="0" lang="en-US" sz="2320" spc="-1" strike="noStrike">
                <a:solidFill>
                  <a:srgbClr val="000000"/>
                </a:solidFill>
                <a:latin typeface="Courier New"/>
                <a:ea typeface="Courier New"/>
              </a:rPr>
              <a:t>⚡ </a:t>
            </a:r>
            <a:r>
              <a:rPr b="0" lang="en-US" sz="2320" spc="-1" strike="noStrike">
                <a:solidFill>
                  <a:srgbClr val="000000"/>
                </a:solidFill>
                <a:latin typeface="Courier New"/>
                <a:ea typeface="Courier New"/>
              </a:rPr>
              <a:t>Estrutura: condição ? valor_se_verdade : valor_se_falso </a:t>
            </a:r>
            <a:endParaRPr b="0" lang="pt-BR" sz="232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90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90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906"/>
              </a:lnSpc>
            </a:pPr>
            <a:r>
              <a:rPr b="0" lang="en-US" sz="2320" spc="-1" strike="noStrike">
                <a:solidFill>
                  <a:srgbClr val="000000"/>
                </a:solidFill>
                <a:latin typeface="Courier New"/>
                <a:ea typeface="Courier New"/>
              </a:rPr>
              <a:t>📝 </a:t>
            </a:r>
            <a:r>
              <a:rPr b="0" lang="en-US" sz="2320" spc="-1" strike="noStrike">
                <a:solidFill>
                  <a:srgbClr val="000000"/>
                </a:solidFill>
                <a:latin typeface="Courier New"/>
                <a:ea typeface="Courier New"/>
              </a:rPr>
              <a:t>No seu código: z &gt; x ? "verdade" : "falso"</a:t>
            </a:r>
            <a:endParaRPr b="0" lang="pt-BR" sz="232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90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Box 27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Box 28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Box 29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Box 30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6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637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8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39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640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1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42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45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646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7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48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649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0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51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652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3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54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56" name="Group 22"/>
          <p:cNvGrpSpPr/>
          <p:nvPr/>
        </p:nvGrpSpPr>
        <p:grpSpPr>
          <a:xfrm>
            <a:off x="11021760" y="9048960"/>
            <a:ext cx="1270440" cy="796680"/>
            <a:chOff x="11021760" y="9048960"/>
            <a:chExt cx="1270440" cy="796680"/>
          </a:xfrm>
        </p:grpSpPr>
        <p:sp>
          <p:nvSpPr>
            <p:cNvPr id="657" name="Freeform 23"/>
            <p:cNvSpPr/>
            <p:nvPr/>
          </p:nvSpPr>
          <p:spPr>
            <a:xfrm>
              <a:off x="1102176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8" name="TextBox 24"/>
            <p:cNvSpPr/>
            <p:nvPr/>
          </p:nvSpPr>
          <p:spPr>
            <a:xfrm>
              <a:off x="1102176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59" name="Freeform 25"/>
          <p:cNvSpPr/>
          <p:nvPr/>
        </p:nvSpPr>
        <p:spPr>
          <a:xfrm>
            <a:off x="1109880" y="2926800"/>
            <a:ext cx="8045280" cy="1739880"/>
          </a:xfrm>
          <a:custGeom>
            <a:avLst/>
            <a:gdLst>
              <a:gd name="textAreaLeft" fmla="*/ 0 w 8045280"/>
              <a:gd name="textAreaRight" fmla="*/ 8046360 w 8045280"/>
              <a:gd name="textAreaTop" fmla="*/ 0 h 1739880"/>
              <a:gd name="textAreaBottom" fmla="*/ 1740960 h 1739880"/>
            </a:gdLst>
            <a:ahLst/>
            <a:rect l="textAreaLeft" t="textAreaTop" r="textAreaRight" b="textAreaBottom"/>
            <a:pathLst>
              <a:path w="8046484" h="1740967">
                <a:moveTo>
                  <a:pt x="0" y="0"/>
                </a:moveTo>
                <a:lnTo>
                  <a:pt x="8046484" y="0"/>
                </a:lnTo>
                <a:lnTo>
                  <a:pt x="8046484" y="1740967"/>
                </a:lnTo>
                <a:lnTo>
                  <a:pt x="0" y="17409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Box 26"/>
          <p:cNvSpPr/>
          <p:nvPr/>
        </p:nvSpPr>
        <p:spPr>
          <a:xfrm>
            <a:off x="1260000" y="3223080"/>
            <a:ext cx="7749360" cy="12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029"/>
              </a:lnSpc>
            </a:pPr>
            <a:r>
              <a:rPr b="1" lang="en-US" sz="5920" spc="-202" strike="noStrike">
                <a:solidFill>
                  <a:srgbClr val="000000"/>
                </a:solidFill>
                <a:latin typeface="Anonymous Pro Bold"/>
                <a:ea typeface="Anonymous Pro Bold"/>
              </a:rPr>
              <a:t>OPERADORES LÓGICOS</a:t>
            </a:r>
            <a:endParaRPr b="0" lang="pt-BR" sz="5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Freeform 27"/>
          <p:cNvSpPr/>
          <p:nvPr/>
        </p:nvSpPr>
        <p:spPr>
          <a:xfrm>
            <a:off x="583920" y="2708640"/>
            <a:ext cx="1120320" cy="1087560"/>
          </a:xfrm>
          <a:custGeom>
            <a:avLst/>
            <a:gdLst>
              <a:gd name="textAreaLeft" fmla="*/ 0 w 1120320"/>
              <a:gd name="textAreaRight" fmla="*/ 1121400 w 1120320"/>
              <a:gd name="textAreaTop" fmla="*/ 0 h 1087560"/>
              <a:gd name="textAreaBottom" fmla="*/ 1088640 h 1087560"/>
            </a:gdLst>
            <a:ahLst/>
            <a:rect l="textAreaLeft" t="textAreaTop" r="textAreaRight" b="textAreaBottom"/>
            <a:pathLst>
              <a:path w="1121439" h="1088815">
                <a:moveTo>
                  <a:pt x="0" y="0"/>
                </a:moveTo>
                <a:lnTo>
                  <a:pt x="1121439" y="0"/>
                </a:lnTo>
                <a:lnTo>
                  <a:pt x="1121439" y="1088815"/>
                </a:lnTo>
                <a:lnTo>
                  <a:pt x="0" y="1088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Freeform 28"/>
          <p:cNvSpPr/>
          <p:nvPr/>
        </p:nvSpPr>
        <p:spPr>
          <a:xfrm>
            <a:off x="8835840" y="2708640"/>
            <a:ext cx="639360" cy="1089720"/>
          </a:xfrm>
          <a:custGeom>
            <a:avLst/>
            <a:gdLst>
              <a:gd name="textAreaLeft" fmla="*/ 0 w 639360"/>
              <a:gd name="textAreaRight" fmla="*/ 640440 w 639360"/>
              <a:gd name="textAreaTop" fmla="*/ 0 h 1089720"/>
              <a:gd name="textAreaBottom" fmla="*/ 1090800 h 1089720"/>
            </a:gdLst>
            <a:ahLst/>
            <a:rect l="textAreaLeft" t="textAreaTop" r="textAreaRight" b="textAreaBottom"/>
            <a:pathLst>
              <a:path w="640554" h="1090726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Box 29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Box 30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Box 31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Box 32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668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9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70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671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2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73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76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677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8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79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680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1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82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683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4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85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87" name="Group 22"/>
          <p:cNvGrpSpPr/>
          <p:nvPr/>
        </p:nvGrpSpPr>
        <p:grpSpPr>
          <a:xfrm>
            <a:off x="11021760" y="9048960"/>
            <a:ext cx="1270440" cy="796680"/>
            <a:chOff x="11021760" y="9048960"/>
            <a:chExt cx="1270440" cy="796680"/>
          </a:xfrm>
        </p:grpSpPr>
        <p:sp>
          <p:nvSpPr>
            <p:cNvPr id="688" name="Freeform 23"/>
            <p:cNvSpPr/>
            <p:nvPr/>
          </p:nvSpPr>
          <p:spPr>
            <a:xfrm>
              <a:off x="1102176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9" name="TextBox 24"/>
            <p:cNvSpPr/>
            <p:nvPr/>
          </p:nvSpPr>
          <p:spPr>
            <a:xfrm>
              <a:off x="1102176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90" name="Freeform 25"/>
          <p:cNvSpPr/>
          <p:nvPr/>
        </p:nvSpPr>
        <p:spPr>
          <a:xfrm>
            <a:off x="1109880" y="2926800"/>
            <a:ext cx="8045280" cy="1739880"/>
          </a:xfrm>
          <a:custGeom>
            <a:avLst/>
            <a:gdLst>
              <a:gd name="textAreaLeft" fmla="*/ 0 w 8045280"/>
              <a:gd name="textAreaRight" fmla="*/ 8046360 w 8045280"/>
              <a:gd name="textAreaTop" fmla="*/ 0 h 1739880"/>
              <a:gd name="textAreaBottom" fmla="*/ 1740960 h 1739880"/>
            </a:gdLst>
            <a:ahLst/>
            <a:rect l="textAreaLeft" t="textAreaTop" r="textAreaRight" b="textAreaBottom"/>
            <a:pathLst>
              <a:path w="8046484" h="1740967">
                <a:moveTo>
                  <a:pt x="0" y="0"/>
                </a:moveTo>
                <a:lnTo>
                  <a:pt x="8046484" y="0"/>
                </a:lnTo>
                <a:lnTo>
                  <a:pt x="8046484" y="1740967"/>
                </a:lnTo>
                <a:lnTo>
                  <a:pt x="0" y="17409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Freeform 27"/>
          <p:cNvSpPr/>
          <p:nvPr/>
        </p:nvSpPr>
        <p:spPr>
          <a:xfrm>
            <a:off x="583920" y="2708640"/>
            <a:ext cx="1120320" cy="1087560"/>
          </a:xfrm>
          <a:custGeom>
            <a:avLst/>
            <a:gdLst>
              <a:gd name="textAreaLeft" fmla="*/ 0 w 1120320"/>
              <a:gd name="textAreaRight" fmla="*/ 1121400 w 1120320"/>
              <a:gd name="textAreaTop" fmla="*/ 0 h 1087560"/>
              <a:gd name="textAreaBottom" fmla="*/ 1088640 h 1087560"/>
            </a:gdLst>
            <a:ahLst/>
            <a:rect l="textAreaLeft" t="textAreaTop" r="textAreaRight" b="textAreaBottom"/>
            <a:pathLst>
              <a:path w="1121439" h="1088815">
                <a:moveTo>
                  <a:pt x="0" y="0"/>
                </a:moveTo>
                <a:lnTo>
                  <a:pt x="1121439" y="0"/>
                </a:lnTo>
                <a:lnTo>
                  <a:pt x="1121439" y="1088815"/>
                </a:lnTo>
                <a:lnTo>
                  <a:pt x="0" y="1088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Freeform 28"/>
          <p:cNvSpPr/>
          <p:nvPr/>
        </p:nvSpPr>
        <p:spPr>
          <a:xfrm>
            <a:off x="8835840" y="2708640"/>
            <a:ext cx="639360" cy="1089720"/>
          </a:xfrm>
          <a:custGeom>
            <a:avLst/>
            <a:gdLst>
              <a:gd name="textAreaLeft" fmla="*/ 0 w 639360"/>
              <a:gd name="textAreaRight" fmla="*/ 640440 w 639360"/>
              <a:gd name="textAreaTop" fmla="*/ 0 h 1089720"/>
              <a:gd name="textAreaBottom" fmla="*/ 1090800 h 1089720"/>
            </a:gdLst>
            <a:ahLst/>
            <a:rect l="textAreaLeft" t="textAreaTop" r="textAreaRight" b="textAreaBottom"/>
            <a:pathLst>
              <a:path w="640554" h="1090726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Box 29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Box 30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Box 31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Box 32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Box 33"/>
          <p:cNvSpPr/>
          <p:nvPr/>
        </p:nvSpPr>
        <p:spPr>
          <a:xfrm>
            <a:off x="1109880" y="5105880"/>
            <a:ext cx="9840960" cy="31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29480" indent="-214560" defTabSz="914400">
              <a:lnSpc>
                <a:spcPts val="2486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Permitem combinar várias condições em uma única decisão.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🤝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E (AND): Só é VERDADE se todas as condições forem reais.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🖐️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OU (OR): É VERDADE se pelo menos uma condição for real.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🔄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NÃO (NOT): Inverte o valor (o que é verdade vira falso).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💡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Exemplo: SE (sol == true) E (domingo == true) ENTÃO "Praia!"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Box 1"/>
          <p:cNvSpPr/>
          <p:nvPr/>
        </p:nvSpPr>
        <p:spPr>
          <a:xfrm>
            <a:off x="1260000" y="3194640"/>
            <a:ext cx="7749360" cy="12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029"/>
              </a:lnSpc>
            </a:pPr>
            <a:r>
              <a:rPr b="1" lang="en-US" sz="5920" spc="-202" strike="noStrike">
                <a:solidFill>
                  <a:srgbClr val="000000"/>
                </a:solidFill>
                <a:latin typeface="Anonymous Pro Bold"/>
                <a:ea typeface="Anonymous Pro Bold"/>
              </a:rPr>
              <a:t>OPERADORES LÓGICOS</a:t>
            </a:r>
            <a:endParaRPr b="0" lang="pt-BR" sz="59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700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1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02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703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4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05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08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709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0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11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712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3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14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715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6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17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9" name="Group 22"/>
          <p:cNvGrpSpPr/>
          <p:nvPr/>
        </p:nvGrpSpPr>
        <p:grpSpPr>
          <a:xfrm>
            <a:off x="11021760" y="9048960"/>
            <a:ext cx="1270440" cy="796680"/>
            <a:chOff x="11021760" y="9048960"/>
            <a:chExt cx="1270440" cy="796680"/>
          </a:xfrm>
        </p:grpSpPr>
        <p:sp>
          <p:nvSpPr>
            <p:cNvPr id="720" name="Freeform 23"/>
            <p:cNvSpPr/>
            <p:nvPr/>
          </p:nvSpPr>
          <p:spPr>
            <a:xfrm>
              <a:off x="1102176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1" name="TextBox 24"/>
            <p:cNvSpPr/>
            <p:nvPr/>
          </p:nvSpPr>
          <p:spPr>
            <a:xfrm>
              <a:off x="1102176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22" name="Freeform 25"/>
          <p:cNvSpPr/>
          <p:nvPr/>
        </p:nvSpPr>
        <p:spPr>
          <a:xfrm>
            <a:off x="1109880" y="2926800"/>
            <a:ext cx="8045280" cy="1739880"/>
          </a:xfrm>
          <a:custGeom>
            <a:avLst/>
            <a:gdLst>
              <a:gd name="textAreaLeft" fmla="*/ 0 w 8045280"/>
              <a:gd name="textAreaRight" fmla="*/ 8046360 w 8045280"/>
              <a:gd name="textAreaTop" fmla="*/ 0 h 1739880"/>
              <a:gd name="textAreaBottom" fmla="*/ 1740960 h 1739880"/>
            </a:gdLst>
            <a:ahLst/>
            <a:rect l="textAreaLeft" t="textAreaTop" r="textAreaRight" b="textAreaBottom"/>
            <a:pathLst>
              <a:path w="8046484" h="1740967">
                <a:moveTo>
                  <a:pt x="0" y="0"/>
                </a:moveTo>
                <a:lnTo>
                  <a:pt x="8046484" y="0"/>
                </a:lnTo>
                <a:lnTo>
                  <a:pt x="8046484" y="1740967"/>
                </a:lnTo>
                <a:lnTo>
                  <a:pt x="0" y="17409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Freeform 27"/>
          <p:cNvSpPr/>
          <p:nvPr/>
        </p:nvSpPr>
        <p:spPr>
          <a:xfrm>
            <a:off x="583920" y="2708640"/>
            <a:ext cx="1120320" cy="1087560"/>
          </a:xfrm>
          <a:custGeom>
            <a:avLst/>
            <a:gdLst>
              <a:gd name="textAreaLeft" fmla="*/ 0 w 1120320"/>
              <a:gd name="textAreaRight" fmla="*/ 1121400 w 1120320"/>
              <a:gd name="textAreaTop" fmla="*/ 0 h 1087560"/>
              <a:gd name="textAreaBottom" fmla="*/ 1088640 h 1087560"/>
            </a:gdLst>
            <a:ahLst/>
            <a:rect l="textAreaLeft" t="textAreaTop" r="textAreaRight" b="textAreaBottom"/>
            <a:pathLst>
              <a:path w="1121439" h="1088815">
                <a:moveTo>
                  <a:pt x="0" y="0"/>
                </a:moveTo>
                <a:lnTo>
                  <a:pt x="1121439" y="0"/>
                </a:lnTo>
                <a:lnTo>
                  <a:pt x="1121439" y="1088815"/>
                </a:lnTo>
                <a:lnTo>
                  <a:pt x="0" y="1088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Freeform 28"/>
          <p:cNvSpPr/>
          <p:nvPr/>
        </p:nvSpPr>
        <p:spPr>
          <a:xfrm>
            <a:off x="8835840" y="2708640"/>
            <a:ext cx="639360" cy="1089720"/>
          </a:xfrm>
          <a:custGeom>
            <a:avLst/>
            <a:gdLst>
              <a:gd name="textAreaLeft" fmla="*/ 0 w 639360"/>
              <a:gd name="textAreaRight" fmla="*/ 640440 w 639360"/>
              <a:gd name="textAreaTop" fmla="*/ 0 h 1089720"/>
              <a:gd name="textAreaBottom" fmla="*/ 1090800 h 1089720"/>
            </a:gdLst>
            <a:ahLst/>
            <a:rect l="textAreaLeft" t="textAreaTop" r="textAreaRight" b="textAreaBottom"/>
            <a:pathLst>
              <a:path w="640554" h="1090726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Freeform 29"/>
          <p:cNvSpPr/>
          <p:nvPr/>
        </p:nvSpPr>
        <p:spPr>
          <a:xfrm>
            <a:off x="10693800" y="2926800"/>
            <a:ext cx="6706800" cy="5014440"/>
          </a:xfrm>
          <a:custGeom>
            <a:avLst/>
            <a:gdLst>
              <a:gd name="textAreaLeft" fmla="*/ 0 w 6706800"/>
              <a:gd name="textAreaRight" fmla="*/ 6707880 w 6706800"/>
              <a:gd name="textAreaTop" fmla="*/ 0 h 5014440"/>
              <a:gd name="textAreaBottom" fmla="*/ 5015520 h 5014440"/>
            </a:gdLst>
            <a:ahLst/>
            <a:rect l="textAreaLeft" t="textAreaTop" r="textAreaRight" b="textAreaBottom"/>
            <a:pathLst>
              <a:path w="6708006" h="5015633">
                <a:moveTo>
                  <a:pt x="0" y="0"/>
                </a:moveTo>
                <a:lnTo>
                  <a:pt x="6708006" y="0"/>
                </a:lnTo>
                <a:lnTo>
                  <a:pt x="6708006" y="5015633"/>
                </a:lnTo>
                <a:lnTo>
                  <a:pt x="0" y="50156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TextBox 30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Box 31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TextBox 32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Box 33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Box 34"/>
          <p:cNvSpPr/>
          <p:nvPr/>
        </p:nvSpPr>
        <p:spPr>
          <a:xfrm>
            <a:off x="1109880" y="5105880"/>
            <a:ext cx="9840960" cy="31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29480" indent="-214560" defTabSz="914400">
              <a:lnSpc>
                <a:spcPts val="2486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Permitem combinar várias condições em uma única decisão.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🤝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E (AND): Só é VERDADE se todas as condições forem reais.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🖐️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OU (OR): É VERDADE se pelo menos uma condição for real.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🔄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NÃO (NOT): Inverte o valor (o que é verdade vira falso). 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💡 </a:t>
            </a:r>
            <a:r>
              <a:rPr b="0" lang="en-US" sz="1990" spc="-1" strike="noStrike">
                <a:solidFill>
                  <a:srgbClr val="000000"/>
                </a:solidFill>
                <a:latin typeface="Courier New"/>
                <a:ea typeface="Courier New"/>
              </a:rPr>
              <a:t>Exemplo: SE (sol == true) E (domingo == true) ENTÃO "Praia!"</a:t>
            </a:r>
            <a:endParaRPr b="0" lang="pt-BR" sz="199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486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Box 2"/>
          <p:cNvSpPr/>
          <p:nvPr/>
        </p:nvSpPr>
        <p:spPr>
          <a:xfrm>
            <a:off x="1260000" y="3194640"/>
            <a:ext cx="7749360" cy="12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029"/>
              </a:lnSpc>
            </a:pPr>
            <a:r>
              <a:rPr b="1" lang="en-US" sz="5920" spc="-202" strike="noStrike">
                <a:solidFill>
                  <a:srgbClr val="000000"/>
                </a:solidFill>
                <a:latin typeface="Anonymous Pro Bold"/>
                <a:ea typeface="Anonymous Pro Bold"/>
              </a:rPr>
              <a:t>OPERADORES LÓGICOS</a:t>
            </a:r>
            <a:endParaRPr b="0" lang="pt-BR" sz="59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2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733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4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35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736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7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38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41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742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3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44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745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6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47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748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9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50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52" name="Group 22"/>
          <p:cNvGrpSpPr/>
          <p:nvPr/>
        </p:nvGrpSpPr>
        <p:grpSpPr>
          <a:xfrm>
            <a:off x="12329640" y="9048960"/>
            <a:ext cx="1270440" cy="796680"/>
            <a:chOff x="12329640" y="9048960"/>
            <a:chExt cx="1270440" cy="796680"/>
          </a:xfrm>
        </p:grpSpPr>
        <p:sp>
          <p:nvSpPr>
            <p:cNvPr id="753" name="Freeform 23"/>
            <p:cNvSpPr/>
            <p:nvPr/>
          </p:nvSpPr>
          <p:spPr>
            <a:xfrm>
              <a:off x="123296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extBox 24"/>
            <p:cNvSpPr/>
            <p:nvPr/>
          </p:nvSpPr>
          <p:spPr>
            <a:xfrm>
              <a:off x="123296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55" name="Freeform 25"/>
          <p:cNvSpPr/>
          <p:nvPr/>
        </p:nvSpPr>
        <p:spPr>
          <a:xfrm>
            <a:off x="4116600" y="3515760"/>
            <a:ext cx="5026320" cy="2676960"/>
          </a:xfrm>
          <a:custGeom>
            <a:avLst/>
            <a:gdLst>
              <a:gd name="textAreaLeft" fmla="*/ 0 w 5026320"/>
              <a:gd name="textAreaRight" fmla="*/ 5027400 w 5026320"/>
              <a:gd name="textAreaTop" fmla="*/ 0 h 2676960"/>
              <a:gd name="textAreaBottom" fmla="*/ 2678040 h 2676960"/>
            </a:gdLst>
            <a:ahLst/>
            <a:rect l="textAreaLeft" t="textAreaTop" r="textAreaRight" b="textAreaBottom"/>
            <a:pathLst>
              <a:path w="5027291" h="2678175">
                <a:moveTo>
                  <a:pt x="0" y="0"/>
                </a:moveTo>
                <a:lnTo>
                  <a:pt x="5027291" y="0"/>
                </a:lnTo>
                <a:lnTo>
                  <a:pt x="5027291" y="2678175"/>
                </a:lnTo>
                <a:lnTo>
                  <a:pt x="0" y="26781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Box 26"/>
          <p:cNvSpPr/>
          <p:nvPr/>
        </p:nvSpPr>
        <p:spPr>
          <a:xfrm>
            <a:off x="4384080" y="4183560"/>
            <a:ext cx="4491360" cy="17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572"/>
              </a:lnSpc>
            </a:pPr>
            <a:r>
              <a:rPr b="1" lang="en-US" sz="5380" spc="-182" strike="noStrike">
                <a:solidFill>
                  <a:srgbClr val="000000"/>
                </a:solidFill>
                <a:latin typeface="Anonymous Pro Bold"/>
                <a:ea typeface="Anonymous Pro Bold"/>
              </a:rPr>
              <a:t>ESTRUTURA DE REPETIÇÃO</a:t>
            </a:r>
            <a:endParaRPr b="0" lang="pt-BR" sz="5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Freeform 27"/>
          <p:cNvSpPr/>
          <p:nvPr/>
        </p:nvSpPr>
        <p:spPr>
          <a:xfrm>
            <a:off x="3622680" y="3231360"/>
            <a:ext cx="1018440" cy="988920"/>
          </a:xfrm>
          <a:custGeom>
            <a:avLst/>
            <a:gdLst>
              <a:gd name="textAreaLeft" fmla="*/ 0 w 1018440"/>
              <a:gd name="textAreaRight" fmla="*/ 1019520 w 1018440"/>
              <a:gd name="textAreaTop" fmla="*/ 0 h 988920"/>
              <a:gd name="textAreaBottom" fmla="*/ 990000 h 988920"/>
            </a:gdLst>
            <a:ahLst/>
            <a:rect l="textAreaLeft" t="textAreaTop" r="textAreaRight" b="textAreaBottom"/>
            <a:pathLst>
              <a:path w="1019520" h="989861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TextBox 28"/>
          <p:cNvSpPr/>
          <p:nvPr/>
        </p:nvSpPr>
        <p:spPr>
          <a:xfrm>
            <a:off x="10255680" y="4329000"/>
            <a:ext cx="6210360" cy="25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37"/>
              </a:lnSpc>
            </a:pPr>
            <a:r>
              <a:rPr b="0" lang="en-US" sz="2029" spc="-1" strike="noStrike">
                <a:solidFill>
                  <a:srgbClr val="000000"/>
                </a:solidFill>
                <a:latin typeface="Courier New"/>
                <a:ea typeface="Courier New"/>
              </a:rPr>
              <a:t>Instruções que se repetem automaticamente para você não precisar escrever o mesmo código várias vezes.</a:t>
            </a:r>
            <a:endParaRPr b="0" lang="pt-BR" sz="202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53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537"/>
              </a:lnSpc>
            </a:pPr>
            <a:r>
              <a:rPr b="0" lang="en-US" sz="2029" spc="-1" strike="noStrike">
                <a:solidFill>
                  <a:srgbClr val="000000"/>
                </a:solidFill>
                <a:latin typeface="Courier New"/>
                <a:ea typeface="Courier New"/>
              </a:rPr>
              <a:t>🛑 </a:t>
            </a:r>
            <a:r>
              <a:rPr b="0" lang="en-US" sz="2029" spc="-1" strike="noStrike">
                <a:solidFill>
                  <a:srgbClr val="000000"/>
                </a:solidFill>
                <a:latin typeface="Courier New"/>
                <a:ea typeface="Courier New"/>
              </a:rPr>
              <a:t>Importante: Todo loop precisa de uma condição de parada para não travar o computador (o famoso "loop infinito").</a:t>
            </a:r>
            <a:endParaRPr b="0" lang="pt-BR" sz="202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53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Box 29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Box 30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Box 31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TextBox 32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3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764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5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66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767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8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69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72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773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4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75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776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7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78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779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0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81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83" name="Group 22"/>
          <p:cNvGrpSpPr/>
          <p:nvPr/>
        </p:nvGrpSpPr>
        <p:grpSpPr>
          <a:xfrm>
            <a:off x="13734360" y="9048960"/>
            <a:ext cx="1270440" cy="796680"/>
            <a:chOff x="13734360" y="9048960"/>
            <a:chExt cx="1270440" cy="796680"/>
          </a:xfrm>
        </p:grpSpPr>
        <p:sp>
          <p:nvSpPr>
            <p:cNvPr id="784" name="Freeform 23"/>
            <p:cNvSpPr/>
            <p:nvPr/>
          </p:nvSpPr>
          <p:spPr>
            <a:xfrm>
              <a:off x="1373436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5" name="TextBox 24"/>
            <p:cNvSpPr/>
            <p:nvPr/>
          </p:nvSpPr>
          <p:spPr>
            <a:xfrm>
              <a:off x="1373436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86" name="Freeform 25"/>
          <p:cNvSpPr/>
          <p:nvPr/>
        </p:nvSpPr>
        <p:spPr>
          <a:xfrm>
            <a:off x="1071000" y="3368520"/>
            <a:ext cx="6751080" cy="1865160"/>
          </a:xfrm>
          <a:custGeom>
            <a:avLst/>
            <a:gdLst>
              <a:gd name="textAreaLeft" fmla="*/ 0 w 6751080"/>
              <a:gd name="textAreaRight" fmla="*/ 6752160 w 6751080"/>
              <a:gd name="textAreaTop" fmla="*/ 0 h 1865160"/>
              <a:gd name="textAreaBottom" fmla="*/ 1866240 h 1865160"/>
            </a:gdLst>
            <a:ahLst/>
            <a:rect l="textAreaLeft" t="textAreaTop" r="textAreaRight" b="textAreaBottom"/>
            <a:pathLst>
              <a:path w="6752249" h="1866076">
                <a:moveTo>
                  <a:pt x="0" y="0"/>
                </a:moveTo>
                <a:lnTo>
                  <a:pt x="6752249" y="0"/>
                </a:lnTo>
                <a:lnTo>
                  <a:pt x="6752249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Freeform 26"/>
          <p:cNvSpPr/>
          <p:nvPr/>
        </p:nvSpPr>
        <p:spPr>
          <a:xfrm>
            <a:off x="8640360" y="3462480"/>
            <a:ext cx="2941560" cy="812160"/>
          </a:xfrm>
          <a:custGeom>
            <a:avLst/>
            <a:gdLst>
              <a:gd name="textAreaLeft" fmla="*/ 0 w 2941560"/>
              <a:gd name="textAreaRight" fmla="*/ 2942640 w 2941560"/>
              <a:gd name="textAreaTop" fmla="*/ 0 h 812160"/>
              <a:gd name="textAreaBottom" fmla="*/ 813240 h 812160"/>
            </a:gdLst>
            <a:ahLst/>
            <a:rect l="textAreaLeft" t="textAreaTop" r="textAreaRight" b="textAreaBottom"/>
            <a:pathLst>
              <a:path w="2942700" h="813255">
                <a:moveTo>
                  <a:pt x="0" y="0"/>
                </a:moveTo>
                <a:lnTo>
                  <a:pt x="2942699" y="0"/>
                </a:lnTo>
                <a:lnTo>
                  <a:pt x="2942699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Freeform 27"/>
          <p:cNvSpPr/>
          <p:nvPr/>
        </p:nvSpPr>
        <p:spPr>
          <a:xfrm>
            <a:off x="8640360" y="4421520"/>
            <a:ext cx="2941560" cy="812160"/>
          </a:xfrm>
          <a:custGeom>
            <a:avLst/>
            <a:gdLst>
              <a:gd name="textAreaLeft" fmla="*/ 0 w 2941560"/>
              <a:gd name="textAreaRight" fmla="*/ 2942640 w 2941560"/>
              <a:gd name="textAreaTop" fmla="*/ 0 h 812160"/>
              <a:gd name="textAreaBottom" fmla="*/ 813240 h 812160"/>
            </a:gdLst>
            <a:ahLst/>
            <a:rect l="textAreaLeft" t="textAreaTop" r="textAreaRight" b="textAreaBottom"/>
            <a:pathLst>
              <a:path w="2942700" h="813255">
                <a:moveTo>
                  <a:pt x="0" y="0"/>
                </a:moveTo>
                <a:lnTo>
                  <a:pt x="2942699" y="0"/>
                </a:lnTo>
                <a:lnTo>
                  <a:pt x="2942699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Box 28"/>
          <p:cNvSpPr/>
          <p:nvPr/>
        </p:nvSpPr>
        <p:spPr>
          <a:xfrm>
            <a:off x="1569240" y="3825360"/>
            <a:ext cx="575460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WHILE 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(ENQUANTO)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Freeform 29"/>
          <p:cNvSpPr/>
          <p:nvPr/>
        </p:nvSpPr>
        <p:spPr>
          <a:xfrm>
            <a:off x="708480" y="3208680"/>
            <a:ext cx="1223280" cy="1187640"/>
          </a:xfrm>
          <a:custGeom>
            <a:avLst/>
            <a:gdLst>
              <a:gd name="textAreaLeft" fmla="*/ 0 w 1223280"/>
              <a:gd name="textAreaRight" fmla="*/ 1224360 w 1223280"/>
              <a:gd name="textAreaTop" fmla="*/ 0 h 1187640"/>
              <a:gd name="textAreaBottom" fmla="*/ 1188720 h 1187640"/>
            </a:gdLst>
            <a:ahLst/>
            <a:rect l="textAreaLeft" t="textAreaTop" r="textAreaRight" b="textAreaBottom"/>
            <a:pathLst>
              <a:path w="1224507" h="1188885">
                <a:moveTo>
                  <a:pt x="0" y="0"/>
                </a:moveTo>
                <a:lnTo>
                  <a:pt x="1224506" y="0"/>
                </a:lnTo>
                <a:lnTo>
                  <a:pt x="1224506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Box 30"/>
          <p:cNvSpPr/>
          <p:nvPr/>
        </p:nvSpPr>
        <p:spPr>
          <a:xfrm>
            <a:off x="1100880" y="6146280"/>
            <a:ext cx="10510920" cy="19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061"/>
              </a:lnSpc>
            </a:pP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Repete enquanto uma condição for verdadeira.</a:t>
            </a:r>
            <a:endParaRPr b="0" lang="pt-BR" sz="24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061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528840" indent="-264240" algn="just" defTabSz="914400">
              <a:lnSpc>
                <a:spcPts val="306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💡 </a:t>
            </a: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Exemplo: "Enquanto a bateria for &lt; 100%, continue carregando."</a:t>
            </a:r>
            <a:endParaRPr b="0" lang="pt-BR" sz="24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061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Box 31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TextBox 32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TextBox 33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Box 34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6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797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8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99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800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1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02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05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806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7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08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809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0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11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812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3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14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6" name="Group 22"/>
          <p:cNvGrpSpPr/>
          <p:nvPr/>
        </p:nvGrpSpPr>
        <p:grpSpPr>
          <a:xfrm>
            <a:off x="13734360" y="9048960"/>
            <a:ext cx="1270440" cy="796680"/>
            <a:chOff x="13734360" y="9048960"/>
            <a:chExt cx="1270440" cy="796680"/>
          </a:xfrm>
        </p:grpSpPr>
        <p:sp>
          <p:nvSpPr>
            <p:cNvPr id="817" name="Freeform 23"/>
            <p:cNvSpPr/>
            <p:nvPr/>
          </p:nvSpPr>
          <p:spPr>
            <a:xfrm>
              <a:off x="1373436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8" name="TextBox 24"/>
            <p:cNvSpPr/>
            <p:nvPr/>
          </p:nvSpPr>
          <p:spPr>
            <a:xfrm>
              <a:off x="1373436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19" name="Freeform 25"/>
          <p:cNvSpPr/>
          <p:nvPr/>
        </p:nvSpPr>
        <p:spPr>
          <a:xfrm>
            <a:off x="1071000" y="3368520"/>
            <a:ext cx="6751080" cy="1865160"/>
          </a:xfrm>
          <a:custGeom>
            <a:avLst/>
            <a:gdLst>
              <a:gd name="textAreaLeft" fmla="*/ 0 w 6751080"/>
              <a:gd name="textAreaRight" fmla="*/ 6752160 w 6751080"/>
              <a:gd name="textAreaTop" fmla="*/ 0 h 1865160"/>
              <a:gd name="textAreaBottom" fmla="*/ 1866240 h 1865160"/>
            </a:gdLst>
            <a:ahLst/>
            <a:rect l="textAreaLeft" t="textAreaTop" r="textAreaRight" b="textAreaBottom"/>
            <a:pathLst>
              <a:path w="6752249" h="1866076">
                <a:moveTo>
                  <a:pt x="0" y="0"/>
                </a:moveTo>
                <a:lnTo>
                  <a:pt x="6752249" y="0"/>
                </a:lnTo>
                <a:lnTo>
                  <a:pt x="6752249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Freeform 26"/>
          <p:cNvSpPr/>
          <p:nvPr/>
        </p:nvSpPr>
        <p:spPr>
          <a:xfrm>
            <a:off x="8640360" y="3462480"/>
            <a:ext cx="2941560" cy="812160"/>
          </a:xfrm>
          <a:custGeom>
            <a:avLst/>
            <a:gdLst>
              <a:gd name="textAreaLeft" fmla="*/ 0 w 2941560"/>
              <a:gd name="textAreaRight" fmla="*/ 2942640 w 2941560"/>
              <a:gd name="textAreaTop" fmla="*/ 0 h 812160"/>
              <a:gd name="textAreaBottom" fmla="*/ 813240 h 812160"/>
            </a:gdLst>
            <a:ahLst/>
            <a:rect l="textAreaLeft" t="textAreaTop" r="textAreaRight" b="textAreaBottom"/>
            <a:pathLst>
              <a:path w="2942700" h="813255">
                <a:moveTo>
                  <a:pt x="0" y="0"/>
                </a:moveTo>
                <a:lnTo>
                  <a:pt x="2942699" y="0"/>
                </a:lnTo>
                <a:lnTo>
                  <a:pt x="2942699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Freeform 27"/>
          <p:cNvSpPr/>
          <p:nvPr/>
        </p:nvSpPr>
        <p:spPr>
          <a:xfrm>
            <a:off x="8640360" y="4421520"/>
            <a:ext cx="2941560" cy="812160"/>
          </a:xfrm>
          <a:custGeom>
            <a:avLst/>
            <a:gdLst>
              <a:gd name="textAreaLeft" fmla="*/ 0 w 2941560"/>
              <a:gd name="textAreaRight" fmla="*/ 2942640 w 2941560"/>
              <a:gd name="textAreaTop" fmla="*/ 0 h 812160"/>
              <a:gd name="textAreaBottom" fmla="*/ 813240 h 812160"/>
            </a:gdLst>
            <a:ahLst/>
            <a:rect l="textAreaLeft" t="textAreaTop" r="textAreaRight" b="textAreaBottom"/>
            <a:pathLst>
              <a:path w="2942700" h="813255">
                <a:moveTo>
                  <a:pt x="0" y="0"/>
                </a:moveTo>
                <a:lnTo>
                  <a:pt x="2942699" y="0"/>
                </a:lnTo>
                <a:lnTo>
                  <a:pt x="2942699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extBox 28"/>
          <p:cNvSpPr/>
          <p:nvPr/>
        </p:nvSpPr>
        <p:spPr>
          <a:xfrm>
            <a:off x="1569240" y="3825360"/>
            <a:ext cx="575460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WHILE 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(ENQUANTO)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Freeform 29"/>
          <p:cNvSpPr/>
          <p:nvPr/>
        </p:nvSpPr>
        <p:spPr>
          <a:xfrm>
            <a:off x="708480" y="3208680"/>
            <a:ext cx="1223280" cy="1187640"/>
          </a:xfrm>
          <a:custGeom>
            <a:avLst/>
            <a:gdLst>
              <a:gd name="textAreaLeft" fmla="*/ 0 w 1223280"/>
              <a:gd name="textAreaRight" fmla="*/ 1224360 w 1223280"/>
              <a:gd name="textAreaTop" fmla="*/ 0 h 1187640"/>
              <a:gd name="textAreaBottom" fmla="*/ 1188720 h 1187640"/>
            </a:gdLst>
            <a:ahLst/>
            <a:rect l="textAreaLeft" t="textAreaTop" r="textAreaRight" b="textAreaBottom"/>
            <a:pathLst>
              <a:path w="1224507" h="1188885">
                <a:moveTo>
                  <a:pt x="0" y="0"/>
                </a:moveTo>
                <a:lnTo>
                  <a:pt x="1224506" y="0"/>
                </a:lnTo>
                <a:lnTo>
                  <a:pt x="1224506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Freeform 30"/>
          <p:cNvSpPr/>
          <p:nvPr/>
        </p:nvSpPr>
        <p:spPr>
          <a:xfrm>
            <a:off x="11756520" y="3673080"/>
            <a:ext cx="5917320" cy="2819880"/>
          </a:xfrm>
          <a:custGeom>
            <a:avLst/>
            <a:gdLst>
              <a:gd name="textAreaLeft" fmla="*/ 0 w 5917320"/>
              <a:gd name="textAreaRight" fmla="*/ 5918400 w 5917320"/>
              <a:gd name="textAreaTop" fmla="*/ 0 h 2819880"/>
              <a:gd name="textAreaBottom" fmla="*/ 2820960 h 2819880"/>
            </a:gdLst>
            <a:ahLst/>
            <a:rect l="textAreaLeft" t="textAreaTop" r="textAreaRight" b="textAreaBottom"/>
            <a:pathLst>
              <a:path w="5918281" h="2820809">
                <a:moveTo>
                  <a:pt x="0" y="0"/>
                </a:moveTo>
                <a:lnTo>
                  <a:pt x="5918282" y="0"/>
                </a:lnTo>
                <a:lnTo>
                  <a:pt x="5918282" y="2820809"/>
                </a:lnTo>
                <a:lnTo>
                  <a:pt x="0" y="282080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TextBox 31"/>
          <p:cNvSpPr/>
          <p:nvPr/>
        </p:nvSpPr>
        <p:spPr>
          <a:xfrm>
            <a:off x="1100880" y="6146280"/>
            <a:ext cx="10510920" cy="19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061"/>
              </a:lnSpc>
            </a:pP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Repete enquanto uma condição for verdadeira.</a:t>
            </a:r>
            <a:endParaRPr b="0" lang="pt-BR" sz="24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061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528840" indent="-264240" algn="just" defTabSz="914400">
              <a:lnSpc>
                <a:spcPts val="306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💡 </a:t>
            </a: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Exemplo: "Enquanto a bateria for &lt; 100%, continue carregando."</a:t>
            </a:r>
            <a:endParaRPr b="0" lang="pt-BR" sz="24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061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TextBox 32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TextBox 33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TextBox 34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extBox 35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831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2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33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834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5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36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39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840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1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42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843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4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45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846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7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48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50" name="Group 22"/>
          <p:cNvGrpSpPr/>
          <p:nvPr/>
        </p:nvGrpSpPr>
        <p:grpSpPr>
          <a:xfrm>
            <a:off x="13734360" y="9048960"/>
            <a:ext cx="1270440" cy="796680"/>
            <a:chOff x="13734360" y="9048960"/>
            <a:chExt cx="1270440" cy="796680"/>
          </a:xfrm>
        </p:grpSpPr>
        <p:sp>
          <p:nvSpPr>
            <p:cNvPr id="851" name="Freeform 23"/>
            <p:cNvSpPr/>
            <p:nvPr/>
          </p:nvSpPr>
          <p:spPr>
            <a:xfrm>
              <a:off x="1373436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2" name="TextBox 24"/>
            <p:cNvSpPr/>
            <p:nvPr/>
          </p:nvSpPr>
          <p:spPr>
            <a:xfrm>
              <a:off x="1373436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53" name="Freeform 25"/>
          <p:cNvSpPr/>
          <p:nvPr/>
        </p:nvSpPr>
        <p:spPr>
          <a:xfrm>
            <a:off x="1106640" y="3368520"/>
            <a:ext cx="6751080" cy="1865160"/>
          </a:xfrm>
          <a:custGeom>
            <a:avLst/>
            <a:gdLst>
              <a:gd name="textAreaLeft" fmla="*/ 0 w 6751080"/>
              <a:gd name="textAreaRight" fmla="*/ 6752160 w 6751080"/>
              <a:gd name="textAreaTop" fmla="*/ 0 h 1865160"/>
              <a:gd name="textAreaBottom" fmla="*/ 1866240 h 1865160"/>
            </a:gdLst>
            <a:ahLst/>
            <a:rect l="textAreaLeft" t="textAreaTop" r="textAreaRight" b="textAreaBottom"/>
            <a:pathLst>
              <a:path w="6752249" h="1866076">
                <a:moveTo>
                  <a:pt x="0" y="0"/>
                </a:moveTo>
                <a:lnTo>
                  <a:pt x="6752249" y="0"/>
                </a:lnTo>
                <a:lnTo>
                  <a:pt x="6752249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Freeform 26"/>
          <p:cNvSpPr/>
          <p:nvPr/>
        </p:nvSpPr>
        <p:spPr>
          <a:xfrm>
            <a:off x="8676000" y="3462480"/>
            <a:ext cx="2941560" cy="812160"/>
          </a:xfrm>
          <a:custGeom>
            <a:avLst/>
            <a:gdLst>
              <a:gd name="textAreaLeft" fmla="*/ 0 w 2941560"/>
              <a:gd name="textAreaRight" fmla="*/ 2942640 w 2941560"/>
              <a:gd name="textAreaTop" fmla="*/ 0 h 812160"/>
              <a:gd name="textAreaBottom" fmla="*/ 813240 h 812160"/>
            </a:gdLst>
            <a:ahLst/>
            <a:rect l="textAreaLeft" t="textAreaTop" r="textAreaRight" b="textAreaBottom"/>
            <a:pathLst>
              <a:path w="2942700" h="813255">
                <a:moveTo>
                  <a:pt x="0" y="0"/>
                </a:moveTo>
                <a:lnTo>
                  <a:pt x="2942700" y="0"/>
                </a:lnTo>
                <a:lnTo>
                  <a:pt x="2942700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Freeform 27"/>
          <p:cNvSpPr/>
          <p:nvPr/>
        </p:nvSpPr>
        <p:spPr>
          <a:xfrm>
            <a:off x="8676000" y="4421520"/>
            <a:ext cx="2941560" cy="812160"/>
          </a:xfrm>
          <a:custGeom>
            <a:avLst/>
            <a:gdLst>
              <a:gd name="textAreaLeft" fmla="*/ 0 w 2941560"/>
              <a:gd name="textAreaRight" fmla="*/ 2942640 w 2941560"/>
              <a:gd name="textAreaTop" fmla="*/ 0 h 812160"/>
              <a:gd name="textAreaBottom" fmla="*/ 813240 h 812160"/>
            </a:gdLst>
            <a:ahLst/>
            <a:rect l="textAreaLeft" t="textAreaTop" r="textAreaRight" b="textAreaBottom"/>
            <a:pathLst>
              <a:path w="2942700" h="813255">
                <a:moveTo>
                  <a:pt x="0" y="0"/>
                </a:moveTo>
                <a:lnTo>
                  <a:pt x="2942700" y="0"/>
                </a:lnTo>
                <a:lnTo>
                  <a:pt x="2942700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Box 28"/>
          <p:cNvSpPr/>
          <p:nvPr/>
        </p:nvSpPr>
        <p:spPr>
          <a:xfrm>
            <a:off x="1604880" y="3825360"/>
            <a:ext cx="575460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FOR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(PARA)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Freeform 29"/>
          <p:cNvSpPr/>
          <p:nvPr/>
        </p:nvSpPr>
        <p:spPr>
          <a:xfrm>
            <a:off x="744120" y="3208680"/>
            <a:ext cx="1223280" cy="1187640"/>
          </a:xfrm>
          <a:custGeom>
            <a:avLst/>
            <a:gdLst>
              <a:gd name="textAreaLeft" fmla="*/ 0 w 1223280"/>
              <a:gd name="textAreaRight" fmla="*/ 1224360 w 1223280"/>
              <a:gd name="textAreaTop" fmla="*/ 0 h 1187640"/>
              <a:gd name="textAreaBottom" fmla="*/ 1188720 h 1187640"/>
            </a:gdLst>
            <a:ahLst/>
            <a:rect l="textAreaLeft" t="textAreaTop" r="textAreaRight" b="textAreaBottom"/>
            <a:pathLst>
              <a:path w="1224507" h="1188885">
                <a:moveTo>
                  <a:pt x="0" y="0"/>
                </a:moveTo>
                <a:lnTo>
                  <a:pt x="1224507" y="0"/>
                </a:lnTo>
                <a:lnTo>
                  <a:pt x="1224507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TextBox 30"/>
          <p:cNvSpPr/>
          <p:nvPr/>
        </p:nvSpPr>
        <p:spPr>
          <a:xfrm>
            <a:off x="1136520" y="6146280"/>
            <a:ext cx="10510920" cy="19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061"/>
              </a:lnSpc>
            </a:pP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FOR (Para): Repete um número definido de vezes.</a:t>
            </a:r>
            <a:endParaRPr b="0" lang="pt-BR" sz="24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061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528840" indent="-264240" algn="just" defTabSz="914400">
              <a:lnSpc>
                <a:spcPts val="306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💡 </a:t>
            </a: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Exemplo: "Para cada aluno na lista, imprima um certificado."</a:t>
            </a:r>
            <a:endParaRPr b="0" lang="pt-BR" sz="24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061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TextBox 31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Box 32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TextBox 33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TextBox 34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3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864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5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66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867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8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69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2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873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4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75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876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7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78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879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0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81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83" name="Group 22"/>
          <p:cNvGrpSpPr/>
          <p:nvPr/>
        </p:nvGrpSpPr>
        <p:grpSpPr>
          <a:xfrm>
            <a:off x="13734360" y="9048960"/>
            <a:ext cx="1270440" cy="796680"/>
            <a:chOff x="13734360" y="9048960"/>
            <a:chExt cx="1270440" cy="796680"/>
          </a:xfrm>
        </p:grpSpPr>
        <p:sp>
          <p:nvSpPr>
            <p:cNvPr id="884" name="Freeform 23"/>
            <p:cNvSpPr/>
            <p:nvPr/>
          </p:nvSpPr>
          <p:spPr>
            <a:xfrm>
              <a:off x="1373436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5" name="TextBox 24"/>
            <p:cNvSpPr/>
            <p:nvPr/>
          </p:nvSpPr>
          <p:spPr>
            <a:xfrm>
              <a:off x="1373436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86" name="Freeform 25"/>
          <p:cNvSpPr/>
          <p:nvPr/>
        </p:nvSpPr>
        <p:spPr>
          <a:xfrm>
            <a:off x="1106640" y="3368520"/>
            <a:ext cx="6751080" cy="1865160"/>
          </a:xfrm>
          <a:custGeom>
            <a:avLst/>
            <a:gdLst>
              <a:gd name="textAreaLeft" fmla="*/ 0 w 6751080"/>
              <a:gd name="textAreaRight" fmla="*/ 6752160 w 6751080"/>
              <a:gd name="textAreaTop" fmla="*/ 0 h 1865160"/>
              <a:gd name="textAreaBottom" fmla="*/ 1866240 h 1865160"/>
            </a:gdLst>
            <a:ahLst/>
            <a:rect l="textAreaLeft" t="textAreaTop" r="textAreaRight" b="textAreaBottom"/>
            <a:pathLst>
              <a:path w="6752249" h="1866076">
                <a:moveTo>
                  <a:pt x="0" y="0"/>
                </a:moveTo>
                <a:lnTo>
                  <a:pt x="6752249" y="0"/>
                </a:lnTo>
                <a:lnTo>
                  <a:pt x="6752249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Freeform 26"/>
          <p:cNvSpPr/>
          <p:nvPr/>
        </p:nvSpPr>
        <p:spPr>
          <a:xfrm>
            <a:off x="8676000" y="3462480"/>
            <a:ext cx="2941560" cy="812160"/>
          </a:xfrm>
          <a:custGeom>
            <a:avLst/>
            <a:gdLst>
              <a:gd name="textAreaLeft" fmla="*/ 0 w 2941560"/>
              <a:gd name="textAreaRight" fmla="*/ 2942640 w 2941560"/>
              <a:gd name="textAreaTop" fmla="*/ 0 h 812160"/>
              <a:gd name="textAreaBottom" fmla="*/ 813240 h 812160"/>
            </a:gdLst>
            <a:ahLst/>
            <a:rect l="textAreaLeft" t="textAreaTop" r="textAreaRight" b="textAreaBottom"/>
            <a:pathLst>
              <a:path w="2942700" h="813255">
                <a:moveTo>
                  <a:pt x="0" y="0"/>
                </a:moveTo>
                <a:lnTo>
                  <a:pt x="2942700" y="0"/>
                </a:lnTo>
                <a:lnTo>
                  <a:pt x="2942700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Freeform 27"/>
          <p:cNvSpPr/>
          <p:nvPr/>
        </p:nvSpPr>
        <p:spPr>
          <a:xfrm>
            <a:off x="8676000" y="4421520"/>
            <a:ext cx="2941560" cy="812160"/>
          </a:xfrm>
          <a:custGeom>
            <a:avLst/>
            <a:gdLst>
              <a:gd name="textAreaLeft" fmla="*/ 0 w 2941560"/>
              <a:gd name="textAreaRight" fmla="*/ 2942640 w 2941560"/>
              <a:gd name="textAreaTop" fmla="*/ 0 h 812160"/>
              <a:gd name="textAreaBottom" fmla="*/ 813240 h 812160"/>
            </a:gdLst>
            <a:ahLst/>
            <a:rect l="textAreaLeft" t="textAreaTop" r="textAreaRight" b="textAreaBottom"/>
            <a:pathLst>
              <a:path w="2942700" h="813255">
                <a:moveTo>
                  <a:pt x="0" y="0"/>
                </a:moveTo>
                <a:lnTo>
                  <a:pt x="2942700" y="0"/>
                </a:lnTo>
                <a:lnTo>
                  <a:pt x="2942700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TextBox 28"/>
          <p:cNvSpPr/>
          <p:nvPr/>
        </p:nvSpPr>
        <p:spPr>
          <a:xfrm>
            <a:off x="1604880" y="3825360"/>
            <a:ext cx="575460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FOR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(PARA)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Freeform 29"/>
          <p:cNvSpPr/>
          <p:nvPr/>
        </p:nvSpPr>
        <p:spPr>
          <a:xfrm>
            <a:off x="744120" y="3208680"/>
            <a:ext cx="1223280" cy="1187640"/>
          </a:xfrm>
          <a:custGeom>
            <a:avLst/>
            <a:gdLst>
              <a:gd name="textAreaLeft" fmla="*/ 0 w 1223280"/>
              <a:gd name="textAreaRight" fmla="*/ 1224360 w 1223280"/>
              <a:gd name="textAreaTop" fmla="*/ 0 h 1187640"/>
              <a:gd name="textAreaBottom" fmla="*/ 1188720 h 1187640"/>
            </a:gdLst>
            <a:ahLst/>
            <a:rect l="textAreaLeft" t="textAreaTop" r="textAreaRight" b="textAreaBottom"/>
            <a:pathLst>
              <a:path w="1224507" h="1188885">
                <a:moveTo>
                  <a:pt x="0" y="0"/>
                </a:moveTo>
                <a:lnTo>
                  <a:pt x="1224507" y="0"/>
                </a:lnTo>
                <a:lnTo>
                  <a:pt x="1224507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TextBox 30"/>
          <p:cNvSpPr/>
          <p:nvPr/>
        </p:nvSpPr>
        <p:spPr>
          <a:xfrm>
            <a:off x="1136520" y="6146280"/>
            <a:ext cx="10510920" cy="19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061"/>
              </a:lnSpc>
            </a:pP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FOR (Para): Repete um número definido de vezes.</a:t>
            </a:r>
            <a:endParaRPr b="0" lang="pt-BR" sz="24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061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528840" indent="-264240" algn="just" defTabSz="914400">
              <a:lnSpc>
                <a:spcPts val="306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💡 </a:t>
            </a:r>
            <a:r>
              <a:rPr b="0" lang="en-US" sz="2450" spc="-1" strike="noStrike">
                <a:solidFill>
                  <a:srgbClr val="000000"/>
                </a:solidFill>
                <a:latin typeface="Courier New"/>
                <a:ea typeface="Courier New"/>
              </a:rPr>
              <a:t>Exemplo: "Para cada aluno na lista, imprima um certificado."</a:t>
            </a:r>
            <a:endParaRPr b="0" lang="pt-BR" sz="24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3061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TextBox 31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TextBox 32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TextBox 33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TextBox 34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Freeform 35"/>
          <p:cNvSpPr/>
          <p:nvPr/>
        </p:nvSpPr>
        <p:spPr>
          <a:xfrm>
            <a:off x="11853720" y="3684240"/>
            <a:ext cx="5819760" cy="2300040"/>
          </a:xfrm>
          <a:custGeom>
            <a:avLst/>
            <a:gdLst>
              <a:gd name="textAreaLeft" fmla="*/ 0 w 5819760"/>
              <a:gd name="textAreaRight" fmla="*/ 5820840 w 5819760"/>
              <a:gd name="textAreaTop" fmla="*/ 0 h 2300040"/>
              <a:gd name="textAreaBottom" fmla="*/ 2301120 h 2300040"/>
            </a:gdLst>
            <a:ahLst/>
            <a:rect l="textAreaLeft" t="textAreaTop" r="textAreaRight" b="textAreaBottom"/>
            <a:pathLst>
              <a:path w="5820900" h="2301042">
                <a:moveTo>
                  <a:pt x="0" y="0"/>
                </a:moveTo>
                <a:lnTo>
                  <a:pt x="5820900" y="0"/>
                </a:lnTo>
                <a:lnTo>
                  <a:pt x="5820900" y="2301041"/>
                </a:lnTo>
                <a:lnTo>
                  <a:pt x="0" y="23010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7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898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9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00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901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2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03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06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907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8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09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910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1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12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913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4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15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17" name="Group 22"/>
          <p:cNvGrpSpPr/>
          <p:nvPr/>
        </p:nvGrpSpPr>
        <p:grpSpPr>
          <a:xfrm>
            <a:off x="14657040" y="9048960"/>
            <a:ext cx="1270440" cy="796680"/>
            <a:chOff x="14657040" y="9048960"/>
            <a:chExt cx="1270440" cy="796680"/>
          </a:xfrm>
        </p:grpSpPr>
        <p:sp>
          <p:nvSpPr>
            <p:cNvPr id="918" name="Freeform 23"/>
            <p:cNvSpPr/>
            <p:nvPr/>
          </p:nvSpPr>
          <p:spPr>
            <a:xfrm>
              <a:off x="146570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9" name="TextBox 24"/>
            <p:cNvSpPr/>
            <p:nvPr/>
          </p:nvSpPr>
          <p:spPr>
            <a:xfrm>
              <a:off x="146570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20" name="Freeform 25"/>
          <p:cNvSpPr/>
          <p:nvPr/>
        </p:nvSpPr>
        <p:spPr>
          <a:xfrm>
            <a:off x="807480" y="2812320"/>
            <a:ext cx="6751080" cy="1865160"/>
          </a:xfrm>
          <a:custGeom>
            <a:avLst/>
            <a:gdLst>
              <a:gd name="textAreaLeft" fmla="*/ 0 w 6751080"/>
              <a:gd name="textAreaRight" fmla="*/ 6752160 w 6751080"/>
              <a:gd name="textAreaTop" fmla="*/ 0 h 1865160"/>
              <a:gd name="textAreaBottom" fmla="*/ 1866240 h 1865160"/>
            </a:gdLst>
            <a:ahLst/>
            <a:rect l="textAreaLeft" t="textAreaTop" r="textAreaRight" b="textAreaBottom"/>
            <a:pathLst>
              <a:path w="6752249" h="1866076">
                <a:moveTo>
                  <a:pt x="0" y="0"/>
                </a:moveTo>
                <a:lnTo>
                  <a:pt x="6752248" y="0"/>
                </a:lnTo>
                <a:lnTo>
                  <a:pt x="6752248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Box 26"/>
          <p:cNvSpPr/>
          <p:nvPr/>
        </p:nvSpPr>
        <p:spPr>
          <a:xfrm>
            <a:off x="786600" y="3529080"/>
            <a:ext cx="677232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FUNÇÃO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TextBox 27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TextBox 28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TextBox 29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Box 30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6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927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8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29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930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1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32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35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936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7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38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939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0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41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942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3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44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46" name="Group 22"/>
          <p:cNvGrpSpPr/>
          <p:nvPr/>
        </p:nvGrpSpPr>
        <p:grpSpPr>
          <a:xfrm>
            <a:off x="14657040" y="9048960"/>
            <a:ext cx="1270440" cy="796680"/>
            <a:chOff x="14657040" y="9048960"/>
            <a:chExt cx="1270440" cy="796680"/>
          </a:xfrm>
        </p:grpSpPr>
        <p:sp>
          <p:nvSpPr>
            <p:cNvPr id="947" name="Freeform 23"/>
            <p:cNvSpPr/>
            <p:nvPr/>
          </p:nvSpPr>
          <p:spPr>
            <a:xfrm>
              <a:off x="146570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8" name="TextBox 24"/>
            <p:cNvSpPr/>
            <p:nvPr/>
          </p:nvSpPr>
          <p:spPr>
            <a:xfrm>
              <a:off x="146570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49" name="Freeform 25"/>
          <p:cNvSpPr/>
          <p:nvPr/>
        </p:nvSpPr>
        <p:spPr>
          <a:xfrm>
            <a:off x="807480" y="2812320"/>
            <a:ext cx="6751080" cy="1865160"/>
          </a:xfrm>
          <a:custGeom>
            <a:avLst/>
            <a:gdLst>
              <a:gd name="textAreaLeft" fmla="*/ 0 w 6751080"/>
              <a:gd name="textAreaRight" fmla="*/ 6752160 w 6751080"/>
              <a:gd name="textAreaTop" fmla="*/ 0 h 1865160"/>
              <a:gd name="textAreaBottom" fmla="*/ 1866240 h 1865160"/>
            </a:gdLst>
            <a:ahLst/>
            <a:rect l="textAreaLeft" t="textAreaTop" r="textAreaRight" b="textAreaBottom"/>
            <a:pathLst>
              <a:path w="6752249" h="1866076">
                <a:moveTo>
                  <a:pt x="0" y="0"/>
                </a:moveTo>
                <a:lnTo>
                  <a:pt x="6752248" y="0"/>
                </a:lnTo>
                <a:lnTo>
                  <a:pt x="6752248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TextBox 26"/>
          <p:cNvSpPr/>
          <p:nvPr/>
        </p:nvSpPr>
        <p:spPr>
          <a:xfrm>
            <a:off x="786600" y="3529080"/>
            <a:ext cx="677232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FUNÇÃO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TextBox 27"/>
          <p:cNvSpPr/>
          <p:nvPr/>
        </p:nvSpPr>
        <p:spPr>
          <a:xfrm>
            <a:off x="8713080" y="3097800"/>
            <a:ext cx="8298360" cy="54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687"/>
              </a:lnSpc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Funções: Blocos de Código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464040" indent="-231840" defTabSz="914400">
              <a:lnSpc>
                <a:spcPts val="2687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Conjunto de instruções que executa uma tarefa específica e pode ser reutilizado.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📦 </a:t>
            </a: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Encapsulamento: Você agrupa o código e dá um nome a ele. 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🔄 </a:t>
            </a: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Reutilização: Escreva uma vez, use quantas vezes quiser. 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📥 </a:t>
            </a: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Entrada/Saída: Pode receber dados (parâmetros) e devolver resultados (retorno). 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💡 </a:t>
            </a: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Exemplo: calcularMedia(nota1, nota2)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TextBox 28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TextBox 29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TextBox 30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TextBox 31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6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957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8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59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960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1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62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65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966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7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68" name="Group 14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969" name="Freeform 15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0" name="TextBox 16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71" name="Group 17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972" name="Freeform 18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3" name="TextBox 19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74" name="Freeform 20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Freeform 21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76" name="Group 22"/>
          <p:cNvGrpSpPr/>
          <p:nvPr/>
        </p:nvGrpSpPr>
        <p:grpSpPr>
          <a:xfrm>
            <a:off x="14657040" y="9048960"/>
            <a:ext cx="1270440" cy="796680"/>
            <a:chOff x="14657040" y="9048960"/>
            <a:chExt cx="1270440" cy="796680"/>
          </a:xfrm>
        </p:grpSpPr>
        <p:sp>
          <p:nvSpPr>
            <p:cNvPr id="977" name="Freeform 23"/>
            <p:cNvSpPr/>
            <p:nvPr/>
          </p:nvSpPr>
          <p:spPr>
            <a:xfrm>
              <a:off x="1465704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8" name="TextBox 24"/>
            <p:cNvSpPr/>
            <p:nvPr/>
          </p:nvSpPr>
          <p:spPr>
            <a:xfrm>
              <a:off x="1465704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79" name="Freeform 25"/>
          <p:cNvSpPr/>
          <p:nvPr/>
        </p:nvSpPr>
        <p:spPr>
          <a:xfrm>
            <a:off x="807480" y="2812320"/>
            <a:ext cx="6751080" cy="1865160"/>
          </a:xfrm>
          <a:custGeom>
            <a:avLst/>
            <a:gdLst>
              <a:gd name="textAreaLeft" fmla="*/ 0 w 6751080"/>
              <a:gd name="textAreaRight" fmla="*/ 6752160 w 6751080"/>
              <a:gd name="textAreaTop" fmla="*/ 0 h 1865160"/>
              <a:gd name="textAreaBottom" fmla="*/ 1866240 h 1865160"/>
            </a:gdLst>
            <a:ahLst/>
            <a:rect l="textAreaLeft" t="textAreaTop" r="textAreaRight" b="textAreaBottom"/>
            <a:pathLst>
              <a:path w="6752249" h="1866076">
                <a:moveTo>
                  <a:pt x="0" y="0"/>
                </a:moveTo>
                <a:lnTo>
                  <a:pt x="6752248" y="0"/>
                </a:lnTo>
                <a:lnTo>
                  <a:pt x="6752248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Freeform 26"/>
          <p:cNvSpPr/>
          <p:nvPr/>
        </p:nvSpPr>
        <p:spPr>
          <a:xfrm>
            <a:off x="1403640" y="5392800"/>
            <a:ext cx="6203160" cy="2944080"/>
          </a:xfrm>
          <a:custGeom>
            <a:avLst/>
            <a:gdLst>
              <a:gd name="textAreaLeft" fmla="*/ 0 w 6203160"/>
              <a:gd name="textAreaRight" fmla="*/ 6204240 w 6203160"/>
              <a:gd name="textAreaTop" fmla="*/ 0 h 2944080"/>
              <a:gd name="textAreaBottom" fmla="*/ 2945160 h 2944080"/>
            </a:gdLst>
            <a:ahLst/>
            <a:rect l="textAreaLeft" t="textAreaTop" r="textAreaRight" b="textAreaBottom"/>
            <a:pathLst>
              <a:path w="6204224" h="2945327">
                <a:moveTo>
                  <a:pt x="0" y="0"/>
                </a:moveTo>
                <a:lnTo>
                  <a:pt x="6204225" y="0"/>
                </a:lnTo>
                <a:lnTo>
                  <a:pt x="6204225" y="2945327"/>
                </a:lnTo>
                <a:lnTo>
                  <a:pt x="0" y="294532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TextBox 27"/>
          <p:cNvSpPr/>
          <p:nvPr/>
        </p:nvSpPr>
        <p:spPr>
          <a:xfrm>
            <a:off x="786600" y="3529080"/>
            <a:ext cx="677232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158"/>
              </a:lnSpc>
            </a:pPr>
            <a:r>
              <a:rPr b="1" lang="en-US" sz="4890" spc="-168" strike="noStrike">
                <a:solidFill>
                  <a:srgbClr val="000000"/>
                </a:solidFill>
                <a:latin typeface="Anonymous Pro Bold"/>
                <a:ea typeface="Anonymous Pro Bold"/>
              </a:rPr>
              <a:t>FUNÇÃO</a:t>
            </a:r>
            <a:endParaRPr b="0" lang="pt-BR" sz="48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TextBox 28"/>
          <p:cNvSpPr/>
          <p:nvPr/>
        </p:nvSpPr>
        <p:spPr>
          <a:xfrm>
            <a:off x="8713080" y="3097800"/>
            <a:ext cx="8298360" cy="54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687"/>
              </a:lnSpc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Funções: Blocos de Código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464040" indent="-231840" defTabSz="914400">
              <a:lnSpc>
                <a:spcPts val="2687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Conjunto de instruções que executa uma tarefa específica e pode ser reutilizado.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📦 </a:t>
            </a: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Encapsulamento: Você agrupa o código e dá um nome a ele. 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🔄 </a:t>
            </a: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Reutilização: Escreva uma vez, use quantas vezes quiser. 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📥 </a:t>
            </a: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Entrada/Saída: Pode receber dados (parâmetros) e devolver resultados (retorno). 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💡 </a:t>
            </a:r>
            <a:r>
              <a:rPr b="0" lang="en-US" sz="2150" spc="-1" strike="noStrike">
                <a:solidFill>
                  <a:srgbClr val="000000"/>
                </a:solidFill>
                <a:latin typeface="Courier New"/>
                <a:ea typeface="Courier New"/>
              </a:rPr>
              <a:t>Exemplo: calcularMedia(nota1, nota2)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ts val="2687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TextBox 29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TextBox 30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TextBox 31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TextBox 32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7" name="Group 2"/>
          <p:cNvGrpSpPr/>
          <p:nvPr/>
        </p:nvGrpSpPr>
        <p:grpSpPr>
          <a:xfrm>
            <a:off x="408960" y="259560"/>
            <a:ext cx="17469000" cy="1137240"/>
            <a:chOff x="408960" y="259560"/>
            <a:chExt cx="17469000" cy="1137240"/>
          </a:xfrm>
        </p:grpSpPr>
        <p:sp>
          <p:nvSpPr>
            <p:cNvPr id="988" name="Freeform 3"/>
            <p:cNvSpPr/>
            <p:nvPr/>
          </p:nvSpPr>
          <p:spPr>
            <a:xfrm>
              <a:off x="408960" y="440640"/>
              <a:ext cx="17469000" cy="9561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956160"/>
                <a:gd name="textAreaBottom" fmla="*/ 957240 h 956160"/>
              </a:gdLst>
              <a:ahLst/>
              <a:rect l="textAreaLeft" t="textAreaTop" r="textAreaRight" b="textAreaBottom"/>
              <a:pathLst>
                <a:path w="4601187" h="252081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9" name="TextBox 4"/>
            <p:cNvSpPr/>
            <p:nvPr/>
          </p:nvSpPr>
          <p:spPr>
            <a:xfrm>
              <a:off x="408960" y="259560"/>
              <a:ext cx="17469000" cy="11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90" name="Group 5"/>
          <p:cNvGrpSpPr/>
          <p:nvPr/>
        </p:nvGrpSpPr>
        <p:grpSpPr>
          <a:xfrm>
            <a:off x="408960" y="2120760"/>
            <a:ext cx="17469000" cy="7724520"/>
            <a:chOff x="408960" y="2120760"/>
            <a:chExt cx="17469000" cy="7724520"/>
          </a:xfrm>
        </p:grpSpPr>
        <p:sp>
          <p:nvSpPr>
            <p:cNvPr id="991" name="Freeform 6"/>
            <p:cNvSpPr/>
            <p:nvPr/>
          </p:nvSpPr>
          <p:spPr>
            <a:xfrm>
              <a:off x="408960" y="2301480"/>
              <a:ext cx="17469000" cy="754380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7543800"/>
                <a:gd name="textAreaBottom" fmla="*/ 7544880 h 7543800"/>
              </a:gdLst>
              <a:ahLst/>
              <a:rect l="textAreaLeft" t="textAreaTop" r="textAreaRight" b="textAreaBottom"/>
              <a:pathLst>
                <a:path w="4601187" h="1987140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2" name="TextBox 7"/>
            <p:cNvSpPr/>
            <p:nvPr/>
          </p:nvSpPr>
          <p:spPr>
            <a:xfrm>
              <a:off x="408960" y="2120760"/>
              <a:ext cx="17469000" cy="772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93" name="Freeform 8"/>
          <p:cNvSpPr/>
          <p:nvPr/>
        </p:nvSpPr>
        <p:spPr>
          <a:xfrm>
            <a:off x="1712916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Freeform 9"/>
          <p:cNvSpPr/>
          <p:nvPr/>
        </p:nvSpPr>
        <p:spPr>
          <a:xfrm>
            <a:off x="1646712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Freeform 10"/>
          <p:cNvSpPr/>
          <p:nvPr/>
        </p:nvSpPr>
        <p:spPr>
          <a:xfrm>
            <a:off x="15807240" y="646200"/>
            <a:ext cx="544680" cy="544680"/>
          </a:xfrm>
          <a:custGeom>
            <a:avLst/>
            <a:gdLst>
              <a:gd name="textAreaLeft" fmla="*/ 0 w 544680"/>
              <a:gd name="textAreaRight" fmla="*/ 545760 w 544680"/>
              <a:gd name="textAreaTop" fmla="*/ 0 h 544680"/>
              <a:gd name="textAreaBottom" fmla="*/ 545760 h 544680"/>
            </a:gdLst>
            <a:ahLst/>
            <a:rect l="textAreaLeft" t="textAreaTop" r="textAreaRight" b="textAreaBottom"/>
            <a:pathLst>
              <a:path w="545628" h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96" name="Group 11"/>
          <p:cNvGrpSpPr/>
          <p:nvPr/>
        </p:nvGrpSpPr>
        <p:grpSpPr>
          <a:xfrm>
            <a:off x="408960" y="9048960"/>
            <a:ext cx="17469000" cy="796680"/>
            <a:chOff x="408960" y="9048960"/>
            <a:chExt cx="17469000" cy="796680"/>
          </a:xfrm>
        </p:grpSpPr>
        <p:sp>
          <p:nvSpPr>
            <p:cNvPr id="997" name="Freeform 12"/>
            <p:cNvSpPr/>
            <p:nvPr/>
          </p:nvSpPr>
          <p:spPr>
            <a:xfrm>
              <a:off x="408960" y="9193680"/>
              <a:ext cx="17469000" cy="651960"/>
            </a:xfrm>
            <a:custGeom>
              <a:avLst/>
              <a:gdLst>
                <a:gd name="textAreaLeft" fmla="*/ 0 w 17469000"/>
                <a:gd name="textAreaRight" fmla="*/ 17470080 w 174690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4601187" h="171978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8" name="TextBox 13"/>
            <p:cNvSpPr/>
            <p:nvPr/>
          </p:nvSpPr>
          <p:spPr>
            <a:xfrm>
              <a:off x="408960" y="9048960"/>
              <a:ext cx="174690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99" name="Group 14"/>
          <p:cNvGrpSpPr/>
          <p:nvPr/>
        </p:nvGrpSpPr>
        <p:grpSpPr>
          <a:xfrm>
            <a:off x="15886080" y="9048960"/>
            <a:ext cx="1270440" cy="796680"/>
            <a:chOff x="15886080" y="9048960"/>
            <a:chExt cx="1270440" cy="796680"/>
          </a:xfrm>
        </p:grpSpPr>
        <p:sp>
          <p:nvSpPr>
            <p:cNvPr id="1000" name="Freeform 15"/>
            <p:cNvSpPr/>
            <p:nvPr/>
          </p:nvSpPr>
          <p:spPr>
            <a:xfrm>
              <a:off x="15886080" y="9193680"/>
              <a:ext cx="1270440" cy="651960"/>
            </a:xfrm>
            <a:custGeom>
              <a:avLst/>
              <a:gdLst>
                <a:gd name="textAreaLeft" fmla="*/ 0 w 1270440"/>
                <a:gd name="textAreaRight" fmla="*/ 1271520 w 127044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334909" h="171978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1" name="TextBox 16"/>
            <p:cNvSpPr/>
            <p:nvPr/>
          </p:nvSpPr>
          <p:spPr>
            <a:xfrm>
              <a:off x="15886080" y="9048960"/>
              <a:ext cx="127044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02" name="Group 17"/>
          <p:cNvGrpSpPr/>
          <p:nvPr/>
        </p:nvGrpSpPr>
        <p:grpSpPr>
          <a:xfrm>
            <a:off x="408960" y="9048960"/>
            <a:ext cx="754200" cy="796680"/>
            <a:chOff x="408960" y="9048960"/>
            <a:chExt cx="754200" cy="796680"/>
          </a:xfrm>
        </p:grpSpPr>
        <p:sp>
          <p:nvSpPr>
            <p:cNvPr id="1003" name="Freeform 18"/>
            <p:cNvSpPr/>
            <p:nvPr/>
          </p:nvSpPr>
          <p:spPr>
            <a:xfrm>
              <a:off x="4089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4" name="TextBox 19"/>
            <p:cNvSpPr/>
            <p:nvPr/>
          </p:nvSpPr>
          <p:spPr>
            <a:xfrm>
              <a:off x="4089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05" name="Group 20"/>
          <p:cNvGrpSpPr/>
          <p:nvPr/>
        </p:nvGrpSpPr>
        <p:grpSpPr>
          <a:xfrm>
            <a:off x="17123760" y="9048960"/>
            <a:ext cx="754200" cy="796680"/>
            <a:chOff x="17123760" y="9048960"/>
            <a:chExt cx="754200" cy="796680"/>
          </a:xfrm>
        </p:grpSpPr>
        <p:sp>
          <p:nvSpPr>
            <p:cNvPr id="1006" name="Freeform 21"/>
            <p:cNvSpPr/>
            <p:nvPr/>
          </p:nvSpPr>
          <p:spPr>
            <a:xfrm>
              <a:off x="17123760" y="9193680"/>
              <a:ext cx="754200" cy="651960"/>
            </a:xfrm>
            <a:custGeom>
              <a:avLst/>
              <a:gdLst>
                <a:gd name="textAreaLeft" fmla="*/ 0 w 754200"/>
                <a:gd name="textAreaRight" fmla="*/ 755280 w 754200"/>
                <a:gd name="textAreaTop" fmla="*/ 0 h 651960"/>
                <a:gd name="textAreaBottom" fmla="*/ 653040 h 651960"/>
              </a:gdLst>
              <a:ahLst/>
              <a:rect l="textAreaLeft" t="textAreaTop" r="textAreaRight" b="textAreaBottom"/>
              <a:pathLst>
                <a:path w="198887" h="171978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7" name="TextBox 22"/>
            <p:cNvSpPr/>
            <p:nvPr/>
          </p:nvSpPr>
          <p:spPr>
            <a:xfrm>
              <a:off x="17123760" y="9048960"/>
              <a:ext cx="75420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08" name="Freeform 23"/>
          <p:cNvSpPr/>
          <p:nvPr/>
        </p:nvSpPr>
        <p:spPr>
          <a:xfrm>
            <a:off x="17382960" y="9306360"/>
            <a:ext cx="318960" cy="426240"/>
          </a:xfrm>
          <a:custGeom>
            <a:avLst/>
            <a:gdLst>
              <a:gd name="textAreaLeft" fmla="*/ 0 w 318960"/>
              <a:gd name="textAreaRight" fmla="*/ 32004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Freeform 24"/>
          <p:cNvSpPr/>
          <p:nvPr/>
        </p:nvSpPr>
        <p:spPr>
          <a:xfrm flipH="1">
            <a:off x="583200" y="9306360"/>
            <a:ext cx="318960" cy="426240"/>
          </a:xfrm>
          <a:custGeom>
            <a:avLst/>
            <a:gdLst>
              <a:gd name="textAreaLeft" fmla="*/ 720 w 318960"/>
              <a:gd name="textAreaRight" fmla="*/ 320760 w 318960"/>
              <a:gd name="textAreaTop" fmla="*/ 0 h 426240"/>
              <a:gd name="textAreaBottom" fmla="*/ 427320 h 426240"/>
            </a:gdLst>
            <a:ahLst/>
            <a:rect l="textAreaLeft" t="textAreaTop" r="textAreaRight" b="textAreaBottom"/>
            <a:pathLst>
              <a:path w="320173" h="427416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Freeform 25"/>
          <p:cNvSpPr/>
          <p:nvPr/>
        </p:nvSpPr>
        <p:spPr>
          <a:xfrm>
            <a:off x="4834080" y="7374240"/>
            <a:ext cx="2557800" cy="552600"/>
          </a:xfrm>
          <a:custGeom>
            <a:avLst/>
            <a:gdLst>
              <a:gd name="textAreaLeft" fmla="*/ 0 w 2557800"/>
              <a:gd name="textAreaRight" fmla="*/ 2558880 w 2557800"/>
              <a:gd name="textAreaTop" fmla="*/ 0 h 552600"/>
              <a:gd name="textAreaBottom" fmla="*/ 553680 h 552600"/>
            </a:gdLst>
            <a:ahLst/>
            <a:rect l="textAreaLeft" t="textAreaTop" r="textAreaRight" b="textAreaBottom"/>
            <a:pathLst>
              <a:path w="2558783" h="553628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TextBox 26"/>
          <p:cNvSpPr/>
          <p:nvPr/>
        </p:nvSpPr>
        <p:spPr>
          <a:xfrm>
            <a:off x="3886560" y="4375800"/>
            <a:ext cx="10210320" cy="34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499"/>
              </a:lnSpc>
            </a:pPr>
            <a:r>
              <a:rPr b="1" lang="en-US" sz="13500" spc="-460" strike="noStrike">
                <a:solidFill>
                  <a:srgbClr val="0057cc"/>
                </a:solidFill>
                <a:latin typeface="Anonymous Pro Bold"/>
                <a:ea typeface="Anonymous Pro Bold"/>
              </a:rPr>
              <a:t>CONCLUSION</a:t>
            </a:r>
            <a:endParaRPr b="0" lang="pt-BR" sz="1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TextBox 27"/>
          <p:cNvSpPr/>
          <p:nvPr/>
        </p:nvSpPr>
        <p:spPr>
          <a:xfrm>
            <a:off x="583920" y="644040"/>
            <a:ext cx="5114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62"/>
              </a:lnSpc>
            </a:pPr>
            <a:r>
              <a:rPr b="1" lang="en-US" sz="3190" spc="-1" strike="noStrike">
                <a:solidFill>
                  <a:srgbClr val="cacaca"/>
                </a:solidFill>
                <a:latin typeface="Cousine Bold"/>
                <a:ea typeface="Cousine Bold"/>
              </a:rPr>
              <a:t>Timmerman Industries</a:t>
            </a:r>
            <a:endParaRPr b="0" lang="pt-BR" sz="3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TextBox 28"/>
          <p:cNvSpPr/>
          <p:nvPr/>
        </p:nvSpPr>
        <p:spPr>
          <a:xfrm>
            <a:off x="583920" y="1585080"/>
            <a:ext cx="121608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Home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TextBox 29"/>
          <p:cNvSpPr/>
          <p:nvPr/>
        </p:nvSpPr>
        <p:spPr>
          <a:xfrm>
            <a:off x="254484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</a:pPr>
            <a:r>
              <a:rPr b="0" lang="en-US" sz="2970" spc="214" strike="noStrike">
                <a:solidFill>
                  <a:srgbClr val="000000"/>
                </a:solidFill>
                <a:latin typeface="Courier New"/>
                <a:ea typeface="Courier New"/>
              </a:rPr>
              <a:t>Content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TextBox 30"/>
          <p:cNvSpPr/>
          <p:nvPr/>
        </p:nvSpPr>
        <p:spPr>
          <a:xfrm>
            <a:off x="5155920" y="1585080"/>
            <a:ext cx="195984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56"/>
              </a:lnSpc>
              <a:tabLst>
                <a:tab algn="l" pos="0"/>
              </a:tabLst>
            </a:pPr>
            <a:r>
              <a:rPr b="1" lang="en-US" sz="2970" spc="214" strike="noStrike">
                <a:solidFill>
                  <a:srgbClr val="000000"/>
                </a:solidFill>
                <a:latin typeface="Cousine Bold"/>
                <a:ea typeface="Cousine Bold"/>
              </a:rPr>
              <a:t>Contact</a:t>
            </a:r>
            <a:endParaRPr b="0" lang="pt-BR" sz="2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TextBox 31"/>
          <p:cNvSpPr/>
          <p:nvPr/>
        </p:nvSpPr>
        <p:spPr>
          <a:xfrm>
            <a:off x="4737960" y="7526880"/>
            <a:ext cx="27500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786"/>
              </a:lnSpc>
            </a:pPr>
            <a:r>
              <a:rPr b="1" lang="en-US" sz="1430" spc="-1" strike="noStrike">
                <a:solidFill>
                  <a:srgbClr val="000000"/>
                </a:solidFill>
                <a:latin typeface="Cousine Bold"/>
                <a:ea typeface="Cousine Bold"/>
              </a:rPr>
              <a:t>Monitoria de POO</a:t>
            </a:r>
            <a:endParaRPr b="0" lang="pt-BR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Freeform 32"/>
          <p:cNvSpPr/>
          <p:nvPr/>
        </p:nvSpPr>
        <p:spPr>
          <a:xfrm>
            <a:off x="7713000" y="7374240"/>
            <a:ext cx="2557800" cy="552600"/>
          </a:xfrm>
          <a:custGeom>
            <a:avLst/>
            <a:gdLst>
              <a:gd name="textAreaLeft" fmla="*/ 0 w 2557800"/>
              <a:gd name="textAreaRight" fmla="*/ 2558880 w 2557800"/>
              <a:gd name="textAreaTop" fmla="*/ 0 h 552600"/>
              <a:gd name="textAreaBottom" fmla="*/ 553680 h 552600"/>
            </a:gdLst>
            <a:ahLst/>
            <a:rect l="textAreaLeft" t="textAreaTop" r="textAreaRight" b="textAreaBottom"/>
            <a:pathLst>
              <a:path w="2558783" h="553628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TextBox 33"/>
          <p:cNvSpPr/>
          <p:nvPr/>
        </p:nvSpPr>
        <p:spPr>
          <a:xfrm>
            <a:off x="7616880" y="7526880"/>
            <a:ext cx="27500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786"/>
              </a:lnSpc>
            </a:pPr>
            <a:r>
              <a:rPr b="1" lang="en-US" sz="1430" spc="-1" strike="noStrike">
                <a:solidFill>
                  <a:srgbClr val="000000"/>
                </a:solidFill>
                <a:latin typeface="Cousine Bold"/>
                <a:ea typeface="Cousine Bold"/>
              </a:rPr>
              <a:t>Revisão: FUP</a:t>
            </a:r>
            <a:endParaRPr b="0" lang="pt-BR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Freeform 34"/>
          <p:cNvSpPr/>
          <p:nvPr/>
        </p:nvSpPr>
        <p:spPr>
          <a:xfrm>
            <a:off x="10587960" y="7374240"/>
            <a:ext cx="2557800" cy="552600"/>
          </a:xfrm>
          <a:custGeom>
            <a:avLst/>
            <a:gdLst>
              <a:gd name="textAreaLeft" fmla="*/ 0 w 2557800"/>
              <a:gd name="textAreaRight" fmla="*/ 2558880 w 2557800"/>
              <a:gd name="textAreaTop" fmla="*/ 0 h 552600"/>
              <a:gd name="textAreaBottom" fmla="*/ 553680 h 552600"/>
            </a:gdLst>
            <a:ahLst/>
            <a:rect l="textAreaLeft" t="textAreaTop" r="textAreaRight" b="textAreaBottom"/>
            <a:pathLst>
              <a:path w="2558783" h="553628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TextBox 35"/>
          <p:cNvSpPr/>
          <p:nvPr/>
        </p:nvSpPr>
        <p:spPr>
          <a:xfrm>
            <a:off x="10491840" y="7526880"/>
            <a:ext cx="27500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786"/>
              </a:lnSpc>
            </a:pPr>
            <a:r>
              <a:rPr b="1" lang="en-US" sz="1430" spc="-1" strike="noStrike">
                <a:solidFill>
                  <a:srgbClr val="000000"/>
                </a:solidFill>
                <a:latin typeface="Cousine Bold"/>
                <a:ea typeface="Cousine Bold"/>
              </a:rPr>
              <a:t>Próximo capítulo</a:t>
            </a:r>
            <a:endParaRPr b="0" lang="pt-BR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Freeform 36"/>
          <p:cNvSpPr/>
          <p:nvPr/>
        </p:nvSpPr>
        <p:spPr>
          <a:xfrm>
            <a:off x="12917160" y="7545960"/>
            <a:ext cx="522000" cy="889920"/>
          </a:xfrm>
          <a:custGeom>
            <a:avLst/>
            <a:gdLst>
              <a:gd name="textAreaLeft" fmla="*/ 0 w 522000"/>
              <a:gd name="textAreaRight" fmla="*/ 523080 w 522000"/>
              <a:gd name="textAreaTop" fmla="*/ 0 h 889920"/>
              <a:gd name="textAreaBottom" fmla="*/ 891000 h 889920"/>
            </a:gdLst>
            <a:ahLst/>
            <a:rect l="textAreaLeft" t="textAreaTop" r="textAreaRight" b="textAreaBottom"/>
            <a:pathLst>
              <a:path w="523211" h="890917">
                <a:moveTo>
                  <a:pt x="0" y="0"/>
                </a:moveTo>
                <a:lnTo>
                  <a:pt x="523211" y="0"/>
                </a:lnTo>
                <a:lnTo>
                  <a:pt x="523211" y="890917"/>
                </a:lnTo>
                <a:lnTo>
                  <a:pt x="0" y="89091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DAHE32546eM</dc:identifier>
  <dc:language>pt-BR</dc:language>
  <cp:lastModifiedBy/>
  <dcterms:modified xsi:type="dcterms:W3CDTF">2026-03-30T16:03:26Z</dcterms:modified>
  <cp:revision>4</cp:revision>
  <dc:subject/>
  <dc:title>Grey Blue Pixel Tech Computer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